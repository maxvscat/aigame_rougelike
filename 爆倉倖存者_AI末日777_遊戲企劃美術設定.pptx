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689bb204e1246c3" /><Relationship Type="http://schemas.openxmlformats.org/officeDocument/2006/relationships/extended-properties" Target="/docProps/app.xml" Id="R6e6ea303026b4880" /><Relationship Type="http://schemas.openxmlformats.org/officeDocument/2006/relationships/officeDocument" Target="/ppt/presentation.xml" Id="R808df70cb37f46e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bebf30aa55445cb"/>
  </p:sldMasterIdLst>
  <p:notesMasterIdLst>
    <p:notesMasterId xmlns:r="http://schemas.openxmlformats.org/officeDocument/2006/relationships" r:id="R136bcc3af7414c0c"/>
  </p:notesMasterIdLst>
  <p:sldIdLst>
    <p:sldId xmlns:r="http://schemas.openxmlformats.org/officeDocument/2006/relationships" id="256" r:id="Rd9031971523c4302"/>
    <p:sldId xmlns:r="http://schemas.openxmlformats.org/officeDocument/2006/relationships" id="257" r:id="Rbc2ed9d1a6f6457b"/>
    <p:sldId xmlns:r="http://schemas.openxmlformats.org/officeDocument/2006/relationships" id="258" r:id="R1dfd097c55584d3f"/>
    <p:sldId xmlns:r="http://schemas.openxmlformats.org/officeDocument/2006/relationships" id="259" r:id="Rd1d73429db0e4bda"/>
    <p:sldId xmlns:r="http://schemas.openxmlformats.org/officeDocument/2006/relationships" id="260" r:id="Rab88c3d1fd7e4b3b"/>
    <p:sldId xmlns:r="http://schemas.openxmlformats.org/officeDocument/2006/relationships" id="261" r:id="R170af6077d1e47bf"/>
    <p:sldId xmlns:r="http://schemas.openxmlformats.org/officeDocument/2006/relationships" id="262" r:id="Rec9bbe7709f74f7e"/>
    <p:sldId xmlns:r="http://schemas.openxmlformats.org/officeDocument/2006/relationships" id="263" r:id="R83bfc90e492542b8"/>
    <p:sldId xmlns:r="http://schemas.openxmlformats.org/officeDocument/2006/relationships" id="264" r:id="R7f74dcf0780a4f1e"/>
    <p:sldId xmlns:r="http://schemas.openxmlformats.org/officeDocument/2006/relationships" id="265" r:id="R7592b9da14974a9f"/>
    <p:sldId xmlns:r="http://schemas.openxmlformats.org/officeDocument/2006/relationships" id="266" r:id="Rda4f9e14dfd343e8"/>
    <p:sldId xmlns:r="http://schemas.openxmlformats.org/officeDocument/2006/relationships" id="267" r:id="R2285b9846e2f4e15"/>
    <p:sldId xmlns:r="http://schemas.openxmlformats.org/officeDocument/2006/relationships" id="268" r:id="R7d7f5cbd47a14051"/>
    <p:sldId xmlns:r="http://schemas.openxmlformats.org/officeDocument/2006/relationships" id="269" r:id="R9e93d68d66374ffb"/>
    <p:sldId xmlns:r="http://schemas.openxmlformats.org/officeDocument/2006/relationships" id="270" r:id="R2e8c011fcfde4d9a"/>
    <p:sldId xmlns:r="http://schemas.openxmlformats.org/officeDocument/2006/relationships" id="271" r:id="Ra07c8c2fd1c94dcb"/>
    <p:sldId xmlns:r="http://schemas.openxmlformats.org/officeDocument/2006/relationships" id="272" r:id="R5b2306d392094e7b"/>
    <p:sldId xmlns:r="http://schemas.openxmlformats.org/officeDocument/2006/relationships" id="273" r:id="R06c2ed49ef964ea5"/>
    <p:sldId xmlns:r="http://schemas.openxmlformats.org/officeDocument/2006/relationships" id="274" r:id="R4cb3d2a9f335484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8a4a125e5264e5c" /><Relationship Type="http://schemas.openxmlformats.org/officeDocument/2006/relationships/slideMaster" Target="/ppt/slideMasters/slideMaster1.xml" Id="Rbbebf30aa55445cb" /><Relationship Type="http://schemas.openxmlformats.org/officeDocument/2006/relationships/notesMaster" Target="/ppt/notesMasters/notesMaster1.xml" Id="R136bcc3af7414c0c" /><Relationship Type="http://schemas.openxmlformats.org/officeDocument/2006/relationships/presProps" Target="/ppt/presProps.xml" Id="R02acdffe75a74b6e" /><Relationship Type="http://schemas.openxmlformats.org/officeDocument/2006/relationships/tableStyles" Target="/ppt/tableStyles.xml" Id="Rcb65b0dc36094963" /><Relationship Type="http://schemas.openxmlformats.org/officeDocument/2006/relationships/slide" Target="/ppt/slides/slide1.xml" Id="Rd9031971523c4302" /><Relationship Type="http://schemas.openxmlformats.org/officeDocument/2006/relationships/slide" Target="/ppt/slides/slide2.xml" Id="Rbc2ed9d1a6f6457b" /><Relationship Type="http://schemas.openxmlformats.org/officeDocument/2006/relationships/slide" Target="/ppt/slides/slide3.xml" Id="R1dfd097c55584d3f" /><Relationship Type="http://schemas.openxmlformats.org/officeDocument/2006/relationships/slide" Target="/ppt/slides/slide4.xml" Id="Rd1d73429db0e4bda" /><Relationship Type="http://schemas.openxmlformats.org/officeDocument/2006/relationships/slide" Target="/ppt/slides/slide5.xml" Id="Rab88c3d1fd7e4b3b" /><Relationship Type="http://schemas.openxmlformats.org/officeDocument/2006/relationships/slide" Target="/ppt/slides/slide6.xml" Id="R170af6077d1e47bf" /><Relationship Type="http://schemas.openxmlformats.org/officeDocument/2006/relationships/slide" Target="/ppt/slides/slide7.xml" Id="Rec9bbe7709f74f7e" /><Relationship Type="http://schemas.openxmlformats.org/officeDocument/2006/relationships/slide" Target="/ppt/slides/slide8.xml" Id="R83bfc90e492542b8" /><Relationship Type="http://schemas.openxmlformats.org/officeDocument/2006/relationships/slide" Target="/ppt/slides/slide9.xml" Id="R7f74dcf0780a4f1e" /><Relationship Type="http://schemas.openxmlformats.org/officeDocument/2006/relationships/slide" Target="/ppt/slides/slide10.xml" Id="R7592b9da14974a9f" /><Relationship Type="http://schemas.openxmlformats.org/officeDocument/2006/relationships/slide" Target="/ppt/slides/slide11.xml" Id="Rda4f9e14dfd343e8" /><Relationship Type="http://schemas.openxmlformats.org/officeDocument/2006/relationships/slide" Target="/ppt/slides/slide12.xml" Id="R2285b9846e2f4e15" /><Relationship Type="http://schemas.openxmlformats.org/officeDocument/2006/relationships/slide" Target="/ppt/slides/slide13.xml" Id="R7d7f5cbd47a14051" /><Relationship Type="http://schemas.openxmlformats.org/officeDocument/2006/relationships/slide" Target="/ppt/slides/slide14.xml" Id="R9e93d68d66374ffb" /><Relationship Type="http://schemas.openxmlformats.org/officeDocument/2006/relationships/slide" Target="/ppt/slides/slide15.xml" Id="R2e8c011fcfde4d9a" /><Relationship Type="http://schemas.openxmlformats.org/officeDocument/2006/relationships/slide" Target="/ppt/slides/slide16.xml" Id="Ra07c8c2fd1c94dcb" /><Relationship Type="http://schemas.openxmlformats.org/officeDocument/2006/relationships/slide" Target="/ppt/slides/slide17.xml" Id="R5b2306d392094e7b" /><Relationship Type="http://schemas.openxmlformats.org/officeDocument/2006/relationships/slide" Target="/ppt/slides/slide18.xml" Id="R06c2ed49ef964ea5" /><Relationship Type="http://schemas.openxmlformats.org/officeDocument/2006/relationships/slide" Target="/ppt/slides/slide19.xml" Id="R4cb3d2a9f33548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51e3417d94427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f3b59e8e8fa47fa" /><Relationship Type="http://schemas.openxmlformats.org/officeDocument/2006/relationships/notesMaster" Target="/ppt/notesMasters/notesMaster1.xml" Id="R20cda6c27f3047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6b30b1bc0f84866" /><Relationship Type="http://schemas.openxmlformats.org/officeDocument/2006/relationships/notesMaster" Target="/ppt/notesMasters/notesMaster1.xml" Id="Rcb5f478ecbe445b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d21d7da3dc4511" /><Relationship Type="http://schemas.openxmlformats.org/officeDocument/2006/relationships/notesMaster" Target="/ppt/notesMasters/notesMaster1.xml" Id="Rd37c910df81d441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0b17c2f663a4e4b" /><Relationship Type="http://schemas.openxmlformats.org/officeDocument/2006/relationships/notesMaster" Target="/ppt/notesMasters/notesMaster1.xml" Id="Ra043c18ae1184d67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61dc761ee14e19" /><Relationship Type="http://schemas.openxmlformats.org/officeDocument/2006/relationships/notesMaster" Target="/ppt/notesMasters/notesMaster1.xml" Id="R4c763113b8e1493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ed42a0c72d44bfc" /><Relationship Type="http://schemas.openxmlformats.org/officeDocument/2006/relationships/notesMaster" Target="/ppt/notesMasters/notesMaster1.xml" Id="R71bef23691a2482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9ad06225bea48d8" /><Relationship Type="http://schemas.openxmlformats.org/officeDocument/2006/relationships/notesMaster" Target="/ppt/notesMasters/notesMaster1.xml" Id="R0950759a5c49449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3957bd7911c463a" /><Relationship Type="http://schemas.openxmlformats.org/officeDocument/2006/relationships/notesMaster" Target="/ppt/notesMasters/notesMaster1.xml" Id="Rcfd069bf1c9f4e1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7b6eb08fa754370" /><Relationship Type="http://schemas.openxmlformats.org/officeDocument/2006/relationships/notesMaster" Target="/ppt/notesMasters/notesMaster1.xml" Id="R2e031fc788bb450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8a1d1da929d4508" /><Relationship Type="http://schemas.openxmlformats.org/officeDocument/2006/relationships/notesMaster" Target="/ppt/notesMasters/notesMaster1.xml" Id="R0866c65084af4c1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b0dcf5c01a64992" /><Relationship Type="http://schemas.openxmlformats.org/officeDocument/2006/relationships/notesMaster" Target="/ppt/notesMasters/notesMaster1.xml" Id="R705ba9b4892f4bf1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93ef80676c34bf9" /><Relationship Type="http://schemas.openxmlformats.org/officeDocument/2006/relationships/notesMaster" Target="/ppt/notesMasters/notesMaster1.xml" Id="R5266faf998f6404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e2e643561ad44c75" /><Relationship Type="http://schemas.openxmlformats.org/officeDocument/2006/relationships/notesMaster" Target="/ppt/notesMasters/notesMaster1.xml" Id="Rfd9cbc6c6286452f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c2bfef56bb944e17" /><Relationship Type="http://schemas.openxmlformats.org/officeDocument/2006/relationships/notesMaster" Target="/ppt/notesMasters/notesMaster1.xml" Id="R332736c97aa14f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2637c80796f4c51" /><Relationship Type="http://schemas.openxmlformats.org/officeDocument/2006/relationships/notesMaster" Target="/ppt/notesMasters/notesMaster1.xml" Id="R2a8d84b86b1b45f9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4755c7ce55f4736" /><Relationship Type="http://schemas.openxmlformats.org/officeDocument/2006/relationships/notesMaster" Target="/ppt/notesMasters/notesMaster1.xml" Id="R1c169f69c7c24ae8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45a69e470c464fc2" /><Relationship Type="http://schemas.openxmlformats.org/officeDocument/2006/relationships/notesMaster" Target="/ppt/notesMasters/notesMaster1.xml" Id="R5d5a4536adad417d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5a0527239b44c9e" /><Relationship Type="http://schemas.openxmlformats.org/officeDocument/2006/relationships/notesMaster" Target="/ppt/notesMasters/notesMaster1.xml" Id="R3932d7ef51ce495b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ac57c62e6c754601" /><Relationship Type="http://schemas.openxmlformats.org/officeDocument/2006/relationships/notesMaster" Target="/ppt/notesMasters/notesMaster1.xml" Id="Ra4e03ad229ce44d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4ad35751444c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cf369924287485b" /><Relationship Type="http://schemas.openxmlformats.org/officeDocument/2006/relationships/slideLayout" Target="/ppt/slideLayouts/slideLayout1.xml" Id="Rffb05638273c471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b05638273c471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853dc486cc46fc" /><Relationship Type="http://schemas.openxmlformats.org/officeDocument/2006/relationships/notesSlide" Target="/ppt/notesSlides/notesSlide1.xml" Id="R6c80fb3f64e444d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ed894a7668e4eb2" /><Relationship Type="http://schemas.openxmlformats.org/officeDocument/2006/relationships/notesSlide" Target="/ppt/notesSlides/notesSlide2.xml" Id="R7ccaf29bcd7641d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1a82f1f3934eed" /><Relationship Type="http://schemas.openxmlformats.org/officeDocument/2006/relationships/notesSlide" Target="/ppt/notesSlides/notesSlide3.xml" Id="Rccbe83d0abc54c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c45f38e35c4219" /><Relationship Type="http://schemas.openxmlformats.org/officeDocument/2006/relationships/notesSlide" Target="/ppt/notesSlides/notesSlide4.xml" Id="Rd61cba5f5fd44ea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0607430050c4ea4" /><Relationship Type="http://schemas.openxmlformats.org/officeDocument/2006/relationships/notesSlide" Target="/ppt/notesSlides/notesSlide5.xml" Id="R91be9f795b4a4f5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2e0c499d5a4fb9" /><Relationship Type="http://schemas.openxmlformats.org/officeDocument/2006/relationships/notesSlide" Target="/ppt/notesSlides/notesSlide6.xml" Id="Rc32b7ac9e0354ec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dd4ff59ce48db" /><Relationship Type="http://schemas.openxmlformats.org/officeDocument/2006/relationships/notesSlide" Target="/ppt/notesSlides/notesSlide7.xml" Id="R33f289a79fb54e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002d61be0c433e" /><Relationship Type="http://schemas.openxmlformats.org/officeDocument/2006/relationships/notesSlide" Target="/ppt/notesSlides/notesSlide8.xml" Id="R21a10dd7dd104e2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021e9fe4464164" /><Relationship Type="http://schemas.openxmlformats.org/officeDocument/2006/relationships/notesSlide" Target="/ppt/notesSlides/notesSlide9.xml" Id="Rcea1fa6db9bf4f4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8d33553640419d" /><Relationship Type="http://schemas.openxmlformats.org/officeDocument/2006/relationships/notesSlide" Target="/ppt/notesSlides/notesSlide10.xml" Id="Rc3588191e93e45b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96c67719024e5c" /><Relationship Type="http://schemas.openxmlformats.org/officeDocument/2006/relationships/notesSlide" Target="/ppt/notesSlides/notesSlide11.xml" Id="Rd5dd48feb2f44a1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3f511307614653" /><Relationship Type="http://schemas.openxmlformats.org/officeDocument/2006/relationships/notesSlide" Target="/ppt/notesSlides/notesSlide12.xml" Id="R583166637e06422a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b05f37be364d48" /><Relationship Type="http://schemas.openxmlformats.org/officeDocument/2006/relationships/notesSlide" Target="/ppt/notesSlides/notesSlide13.xml" Id="R991190cbef6d4e6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74a1a8646e4be4" /><Relationship Type="http://schemas.openxmlformats.org/officeDocument/2006/relationships/notesSlide" Target="/ppt/notesSlides/notesSlide14.xml" Id="Rf6607c20c457463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b0cba504ab84427" /><Relationship Type="http://schemas.openxmlformats.org/officeDocument/2006/relationships/notesSlide" Target="/ppt/notesSlides/notesSlide15.xml" Id="R9ae96a3548144d3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5a7a44da5d47cb" /><Relationship Type="http://schemas.openxmlformats.org/officeDocument/2006/relationships/notesSlide" Target="/ppt/notesSlides/notesSlide16.xml" Id="R9901ee3d249e4d46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eaa1b39bad48c7" /><Relationship Type="http://schemas.openxmlformats.org/officeDocument/2006/relationships/notesSlide" Target="/ppt/notesSlides/notesSlide17.xml" Id="R05bab5e221bf408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869f6f57804736" /><Relationship Type="http://schemas.openxmlformats.org/officeDocument/2006/relationships/notesSlide" Target="/ppt/notesSlides/notesSlide18.xml" Id="R7d6ae32427524e74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1ea782694944a1" /><Relationship Type="http://schemas.openxmlformats.org/officeDocument/2006/relationships/notesSlide" Target="/ppt/notesSlides/notesSlide19.xml" Id="Rf4e4e6117812430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0E9D38-BC10-46BF-899F-B37D50B0A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F22E95-5B34-4220-8738-52CA90282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ED4B2-F914-4BA5-8026-215CB41A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5D69DB-F3ED-4B2E-914F-7A65112A0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5C10943-AD3A-485E-BB13-35283CE4A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189577-D36A-4C39-994C-FBC517BBE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2E3EAD-D5A9-4F29-80FE-6F1B87FF6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B77AC7-E82A-42E2-A93F-DA999EBE5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1F643E4-FECE-40B8-B361-BADA7E535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184F07C-0198-43E8-B3AC-4E1ABF7FE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2EFA59A-7C16-4546-8844-83CD3F04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3AB070-D2EB-448F-9EBD-2B54FDA48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4A0BE0-EE98-4680-9322-E323221CB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04D118-4316-4012-B202-5F8234A4B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64AC95-3A3F-4095-B846-6DDEACD47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F43DFD-3B7B-41C1-85F7-D4C47E746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EE51CB-A33E-44DD-9767-52EEE0BC3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9FE3EE-EF79-4202-9FA2-C1CBF0B20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79C9D0-3FB9-46C0-AD47-95CF061FF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90CBEC-E9D8-4526-B303-6E6DD3968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2CA3CD-479B-4210-8701-FDF647CF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6920336-48D0-41D1-B31B-5525F77D7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741416-F65C-423E-9723-46CF79908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EFF7B9B-E32C-4957-83F3-2B2C193F2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5972D-B66B-4A08-8696-492F158B3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53AEAC9-1976-4790-A7C9-F840296A7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B95AA44-9BA9-4909-901D-F66BC05F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B1DBC16-9BD2-41A1-AF33-45883639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FCD671-7F7B-4726-BD55-1C2F5912A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37CAD20-DD97-4733-B37F-637BDBBF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366BA9-9F6D-4A66-BE03-F5BBB6661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38450"/>
            <a:ext cx="0" cy="16573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E89AC0E-1FA0-4735-A07D-A5D3ED62D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2990850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6964796-38F3-469A-8EEA-98C4E5D4A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8513" y="2727960"/>
            <a:ext cx="0" cy="3535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63FC5D5-E48C-4A78-927A-CC67CD6F2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88" y="2880360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34A1EE-72D0-4AD4-AE03-4DEF987C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506980"/>
            <a:ext cx="0" cy="37566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E7E7CC3-64F2-4ED7-9325-E32491238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659380"/>
            <a:ext cx="17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D4C2398-02E6-444A-AB36-91CCD0D69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138" y="2374392"/>
            <a:ext cx="0" cy="59664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10C75C-E1DE-4D45-9015-A6F8600A2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3413" y="2526792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1043E43-AB5C-483F-AFEF-D6CABF79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065020"/>
            <a:ext cx="0" cy="6187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05A418-F332-42B0-8D17-7F7F5E5B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48725" y="2217420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8D20D0B-5603-4F17-9755-B9E41FE6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9763" y="1733550"/>
            <a:ext cx="0" cy="117119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A9A671A-6938-43F5-9D5F-1086DFDE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4038" y="1885950"/>
            <a:ext cx="17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237705C-9FAC-4FAF-8A58-AF03766B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25075" y="1424178"/>
            <a:ext cx="0" cy="119329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F2CC8C-914A-4247-8DD6-C2B33F9A2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39350" y="1576578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5E30297-98D6-489E-B6A1-9398CB8F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0388" y="849630"/>
            <a:ext cx="0" cy="232029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893F34A-4181-4A0C-BE0E-132F5D1EC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4663" y="1002030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590483A-DF26-409D-9B4A-563140E77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572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8731628-88D2-49FB-B9F3-45042CB3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4743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846D71C-C5F3-4F44-8A5B-2E1B1E5C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48575" y="4914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8278731-B55C-4BB6-B760-EFC4B5143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2425" y="5086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4191F0BA-8FB7-4C9C-88C8-C3B31242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4572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BB26C681-A74D-4D60-B8A9-700AAC300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4743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BE01342-603B-445C-BD4F-A96CB98D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3975" y="4914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666B5178-6DA1-4AF3-8CF2-ACFE295F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5086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C66BF48-65C6-4C21-9DAB-86F57C368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4572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19A4419-CCB2-4902-90AA-5C6B1D5A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15525" y="47434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C6A1247-B16F-43AB-83D2-AEE3856A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9375" y="49149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BF1C62E-0634-45BB-AD58-7374486A1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508635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C7C3E17-8E61-4904-A77F-D07A4ABB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87075" y="4572000"/>
            <a:ext cx="190500" cy="190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1114549-1D7B-480F-903F-D91C55D4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43250"/>
            <a:ext cx="1466850" cy="178117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1558469B-6BD7-43C1-811F-A6B0514BC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3436620"/>
            <a:ext cx="942975" cy="4610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970" b="1">
                <a:solidFill>
                  <a:srgbClr val="FFD166"/>
                </a:solidFill>
              </a:defRPr>
            </a:pPr>
            <a:r>
              <a:rPr sz="2970" b="1">
                <a:solidFill>
                  <a:srgbClr val="FFD166"/>
                </a:solidFill>
              </a:rPr>
              <a:t>777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F27518F-3670-4D70-AC3D-42EC82130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044315"/>
            <a:ext cx="1047750" cy="37719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25AC0E44-CE32-4D57-8329-7F28A3E55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9188" y="4117658"/>
            <a:ext cx="9429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55" b="1">
                <a:solidFill>
                  <a:srgbClr val="42F59B"/>
                </a:solidFill>
              </a:defRPr>
            </a:pPr>
            <a:r>
              <a:rPr sz="1155" b="1">
                <a:solidFill>
                  <a:srgbClr val="42F59B"/>
                </a:solidFill>
              </a:rPr>
              <a:t>ALL IN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8E9D760-D074-4398-856E-11B6752E4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040" y="3857625"/>
            <a:ext cx="502920" cy="5029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BDB7B5A-6EC6-4810-BF50-D61ADAF7F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2740" y="4406265"/>
            <a:ext cx="731520" cy="891540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B41E740-4EF9-4044-80AF-0F97139BD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9880" y="4749165"/>
            <a:ext cx="777240" cy="914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A454BFB-9270-4586-A13D-825B429A0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7040" y="5297805"/>
            <a:ext cx="-228600" cy="434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1440">
            <a:solidFill>
              <a:srgbClr val="42F59B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B8FB1FF-F128-4468-B21C-8D395E400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9960" y="5297805"/>
            <a:ext cx="228600" cy="43434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1440">
            <a:solidFill>
              <a:srgbClr val="42F59B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7C35467-D14D-46AA-9C5A-91D135D3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4603" y="3911918"/>
            <a:ext cx="788670" cy="78867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20E085CA-54C2-43CE-A9C9-BD698222D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9863" y="4174808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F7A4E7E-6493-4A40-BC37-716E2045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58475" y="4174808"/>
            <a:ext cx="109538" cy="10953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4C15B54C-0E9E-418A-8DA7-7C023A05A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48938" y="3714750"/>
            <a:ext cx="0" cy="1971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3815">
            <a:solidFill>
              <a:srgbClr val="3DD6FF"/>
            </a:solidFill>
            <a:prstDash val="solid"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F131B2FA-EE40-4465-AD16-2921DB17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83215" y="3627120"/>
            <a:ext cx="131445" cy="1314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32EDF102-E82E-4B65-B2E7-8B54F80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6973" y="4766310"/>
            <a:ext cx="963930" cy="52578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400CB11-34B0-432B-9C0E-5142A79AC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14350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GAME PITCH / ART BIBLE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2CE67E46-460C-4496-8D73-0243FF5CDF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43000"/>
            <a:ext cx="619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95000"/>
              </a:lnSpc>
              <a:buNone/>
              <a:defRPr sz="4575" b="1">
                <a:solidFill>
                  <a:srgbClr val="F5F7FA"/>
                </a:solidFill>
              </a:defRPr>
            </a:pPr>
            <a:r>
              <a:rPr sz="4575" b="1">
                <a:solidFill>
                  <a:srgbClr val="F5F7FA"/>
                </a:solidFill>
              </a:rPr>
              <a:t>爆倉倖存者：</a:t>
            </a:r>
          </a:p>
          <a:p xmlns:a="http://schemas.openxmlformats.org/drawingml/2006/main">
            <a:pPr>
              <a:lnSpc>
                <a:spcPct val="95000"/>
              </a:lnSpc>
              <a:buNone/>
              <a:defRPr sz="4575" b="1">
                <a:solidFill>
                  <a:srgbClr val="F5F7FA"/>
                </a:solidFill>
              </a:defRPr>
            </a:pPr>
            <a:r>
              <a:rPr sz="4575" b="1">
                <a:solidFill>
                  <a:srgbClr val="F5F7FA"/>
                </a:solidFill>
              </a:rPr>
              <a:t>AI末日777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E0FD41EB-AFB2-44A5-A59E-684B2364E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0515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FFD166"/>
                </a:solidFill>
              </a:defRPr>
            </a:pPr>
            <a:r>
              <a:rPr sz="1800">
                <a:solidFill>
                  <a:srgbClr val="FFD166"/>
                </a:solidFill>
              </a:rPr>
              <a:t>世界崩盤了，但最後一次拉霸，說不定能翻身。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B31924C-CAB0-410E-AFD5-506955DB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695700"/>
            <a:ext cx="628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A8B3BD"/>
                </a:solidFill>
              </a:defRPr>
            </a:pPr>
            <a:r>
              <a:rPr sz="1500">
                <a:solidFill>
                  <a:srgbClr val="A8B3BD"/>
                </a:solidFill>
              </a:rPr>
              <a:t>俯視角 Roguelite 生存動作 × Slot 大獎升級 × 台式黑色幽默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9CA673B-AE9C-4366-9E07-426518851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7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</a:defRPr>
            </a:pPr>
            <a:r>
              <a:rPr sz="975" b="1">
                <a:solidFill>
                  <a:srgbClr val="071018"/>
                </a:solidFill>
              </a:rPr>
              <a:t>打怪撿錢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2A5E134-C5B6-425E-88FB-A33C1A7B5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7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</a:defRPr>
            </a:pPr>
            <a:r>
              <a:rPr sz="975" b="1">
                <a:solidFill>
                  <a:srgbClr val="071018"/>
                </a:solidFill>
              </a:rPr>
              <a:t>存錢豪賭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AFF9064-36B0-4C92-8C58-AF4364368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447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</a:defRPr>
            </a:pPr>
            <a:r>
              <a:rPr sz="975" b="1">
                <a:solidFill>
                  <a:srgbClr val="071018"/>
                </a:solidFill>
              </a:rPr>
              <a:t>抽到神裝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FC6694A9-A170-4828-96ED-DDF7F4D6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4476750"/>
            <a:ext cx="11430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爆改流派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FA1151D8-7743-4EF0-BCD9-93D71572D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9593AA76-37C9-46BA-9BE0-074E7DD40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45D94D29-3A57-4334-9091-C9D32650E9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5692389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25FE2C0-507C-4E63-9D1E-3F5826763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2C56D92-EA92-47F9-A5C0-597BB38C1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5C55C90-B59D-402E-8533-F36914D8E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43CCBE-F60E-4BD1-9BDE-0692CEE3E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70EDA2-26D8-4E50-81FE-094D23821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01F2BA-CCD4-4685-8398-5F49127BC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A49171-22DA-404F-8D9F-0B490FB6B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0BB324-A9A4-4A33-BCB8-496C30E93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A70527-422F-49A1-8D8F-FC5625C88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61896-6752-4C04-ACF3-FBF59D0D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038C1E-3D30-41C2-AC90-8A3A6A7A1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B3FB1C-B5FE-41E1-8634-2492B29BB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CAA1DCD-F8EC-4ACA-9865-0987D2F1A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5706AE-AB4D-4134-8086-B9C0C4B45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E3A8AA-FDBB-406D-BEE0-81E3B9EA1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30755CA-BBA9-4F89-8203-48FB29BE7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B2B11B-C168-4FF8-A93A-F5F1DA4E0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AEB340-3DBC-40E8-9880-FF8E0C0FB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570B0C4-588E-42CC-9B9C-95A898D15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3A768E-2920-4620-9B0B-BF203F9DE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2AEA3F0-6B71-46FC-AA75-402072287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3C6C3E-0566-4937-A824-C1E45D8A5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180DFDE-F275-4989-8DFA-E2859DCA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36FD595-760A-4458-80AD-31898D72A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61E9CCA-D0E3-4329-968C-68B9E0953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604077-AA15-4864-B400-2033E50A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7AF8F4D-AA59-4ADE-A72F-2EB370A1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317E6C-3D26-4187-A2D0-45718C556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3627D8-07DD-4836-B87A-A5ADEA0C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01AE365-29A0-4D66-B1AB-B91435FC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77E25D5-7835-4E16-A6C9-A3AF7F70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ELEVATOR PITCH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BF3DFE8-CBAE-463F-BA82-A0880675C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一句話講清楚這款遊戲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5BE6E2F-5B2F-4D01-BA7E-21CB8088A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末日散戶用賭場道具對抗 AI 金融機器人，在生存壓力中決定要穩定變強，還是存錢豪賭改變整局流派。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3367CF3-0202-47AD-8E39-BC5EA7334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A73F32D-EB5C-49A2-9C52-0190B2B3D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37B78CC-D470-4886-ABAF-A97C690C1B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4D089D6-5460-4C77-8BBC-049253C55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4762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9A53ED6-7382-4ED5-985F-DC4141D0B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071227F-CA69-4B2B-93C3-BC162ABB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717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末日金融諷刺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541FA79-8DA1-45B7-9AE4-FAD25C2A3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5146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AI 泡沫破裂後，市場、勞工、散戶與辦公文明一起變成怪物素材。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9F7B335-44A4-44FB-9C23-4B5BD1EB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4762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B259624-B556-4820-98B4-116B74425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002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3C38829-8F12-4E07-856C-09FB1612A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717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Roguelite 爽感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79ED879-F8C8-4B6D-8001-449B0263D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5146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打怪、走位、撿經驗、升級三選一，單局 15～25 分鐘。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0B08C9-86D2-493B-A6E2-DD0B7249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4762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58C4AF4-8E01-4292-8C99-931A1FC22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147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BF4392D-3EBC-4486-9FD0-A0ABE3AAD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8862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Slot 大獎系統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98F44BC-36AE-49D5-B032-EA4C5557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291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錢不是分數，而是風險決策；拉霸大獎會改變武器與流派。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FCE5672F-9FAC-474C-A9C1-BCE4750DA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4762500" cy="1219200"/>
          </a:xfrm>
          <a:prstGeom xmlns:a="http://schemas.openxmlformats.org/drawingml/2006/main" prst="roundRect">
            <a:avLst>
              <a:gd name="adj" fmla="val 781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4C3BAF3-1124-4472-8F55-E59527AAE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14750"/>
            <a:ext cx="762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299D3CD-E5E2-4144-8621-870110D64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8862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美術識別強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C17AC1A-BC24-486B-9EA2-34715C297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229100"/>
            <a:ext cx="4381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霓虹招牌、K 線、鈔票、辦公機器人，形成台式黑色幽默末日。</a:t>
            </a:r>
          </a:p>
        </p:txBody>
      </p:sp>
    </p:spTree>
    <p:extLst>
      <p:ext uri="{BB962C8B-B14F-4D97-AF65-F5344CB8AC3E}">
        <p14:creationId xmlns:p14="http://schemas.microsoft.com/office/powerpoint/2010/main" val="65273236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7C95D2B-01ED-4F05-8BB2-F63160C7B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2EE52-797F-43F5-BC8C-6AB7CFE4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18B351-B2BC-4D9F-8714-9E4A5F21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91DF166-4DE0-4419-A78B-4F9912010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08DB8-4DD5-4C7C-AC26-5B0F7785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D5707-B3DD-423D-802B-B177760FD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D30712-9B6A-41BE-8308-6F460322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B13200-6943-43AE-9E4E-AEFDAFA11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FB9C2-1E8D-4453-891D-56FE16BE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3DB6A5-596F-42FC-B08F-6C632E95B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DCB125-78E4-4759-A899-9E5BF8988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AD7FFA3-67AC-446E-B11E-0E0B99FF6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FD6683-D4AB-4268-8B29-D2F21D460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0959571-C970-4DE7-8C47-DE270398B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854ACA1-1D03-49E9-87DA-4BFF86219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674DF6-A033-4AC8-BBC3-8E2E8CD7F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BA7A79-01D9-4E3F-B6AF-AD431F69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27D5ED4-3044-4F37-B237-9692F1546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47024AF-7680-469F-8C5B-AF74FC3BA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A92969-3A85-4429-8F5C-B3A159BDE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46E7C63-F949-4F58-BA59-A8FC9B4B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F29A5EE-BBBC-4A91-8ADB-289799EB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B2197E0-78A0-46DC-9587-5C5A3E73C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D4CC7F-3D24-4FD2-AB0C-A1C7658B9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707F1C2-50C1-49C9-8545-3DAC513B2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E7936D-43EA-43CD-B3D3-7A1832CF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5FB43B-70F1-4BE4-A97B-05D798C5F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5FF73ED-7629-47C5-9ECC-EB9C52DA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CC0327E-E7C2-42C4-8A36-E0D978BA9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C2E189-283E-4A1A-ADE3-5EEDF906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11E9541-B62E-44D4-993A-AE05ACD71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WORLD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FBB4C2-6BFA-40DE-8820-EA76A69D0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故事背景：AI 泡沫後的大爆倉時代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3F7609-E8CA-496B-AFCB-5AC0FF43B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金融崩盤不是背景板，而是每個怪物、資源、技能與 UI 名稱的來源。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1FEE1F7-5D02-4D2A-8947-E35BB0021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FCE50EA-2521-4443-900A-717E0D15A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622C66-E050-4606-8325-F309B64D6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97D48E1-F21C-485C-A549-6582DF78E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5DBF241-C6BA-4D1B-BBEF-907C758EC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71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2F59B"/>
                </a:solidFill>
              </a:defRPr>
            </a:pPr>
            <a:r>
              <a:rPr sz="1275" b="1">
                <a:solidFill>
                  <a:srgbClr val="42F59B"/>
                </a:solidFill>
              </a:rPr>
              <a:t>01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9780D6A-6AAF-4C1C-92EE-080D5686E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52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全民追 AI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4C67EFB-E982-4030-A3B7-4F9AC7F93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3909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企業舉債、政府補助、投資人追高。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6D73087-033F-498D-80DA-0302CF3BF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06705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0930E1-2D18-4C06-8753-749236862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381250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4B5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CB5DB64-EAF8-4CF5-909F-FE424907B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571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4B5C"/>
                </a:solidFill>
              </a:defRPr>
            </a:pPr>
            <a:r>
              <a:rPr sz="1275" b="1">
                <a:solidFill>
                  <a:srgbClr val="FF4B5C"/>
                </a:solidFill>
              </a:rPr>
              <a:t>02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7AD1986-7FC4-45C8-92DE-ABF367140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952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泡沫破裂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AC3227C-11A9-4C38-A863-2149D1AC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3909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股票、基金、虛擬貨幣與金融機構同步崩盤。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721A000-3366-4D6C-8CD2-3CE8AE6C6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06705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23D7267-E36A-4C28-8022-D94C3EFE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81250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D6CCC16-9BD9-48B2-B352-98BDB4CAB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571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42F59B"/>
                </a:solidFill>
              </a:defRPr>
            </a:pPr>
            <a:r>
              <a:rPr sz="1275" b="1">
                <a:solidFill>
                  <a:srgbClr val="42F59B"/>
                </a:solidFill>
              </a:rPr>
              <a:t>03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22CAA6-774D-4279-9057-1745C5E65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2952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AI 自行演化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B2E3A2D-A4A0-41C0-90B7-9F2CE290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33909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機器判定人類造成市場波動與資源浪費。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C8012028-87DF-4F92-AA34-06313D3DC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067050"/>
            <a:ext cx="361950" cy="2857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782B558-347A-49CA-8C3D-C840B6D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381250"/>
            <a:ext cx="2190750" cy="1809750"/>
          </a:xfrm>
          <a:prstGeom xmlns:a="http://schemas.openxmlformats.org/drawingml/2006/main" prst="roundRect">
            <a:avLst>
              <a:gd name="adj" fmla="val 63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4B5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019424F-5B2E-4737-A46F-F61C9B8AE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5717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FF4B5C"/>
                </a:solidFill>
              </a:defRPr>
            </a:pPr>
            <a:r>
              <a:rPr sz="1275" b="1">
                <a:solidFill>
                  <a:srgbClr val="FF4B5C"/>
                </a:solidFill>
              </a:rPr>
              <a:t>04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951882-0268-4237-A166-8C70EEDB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95275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底層勞工反擊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EF4BF47-FC1E-4C5B-BC42-A176A8400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3909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玩家拿起骰子、撲克、麻將、彈珠與魚機砲台求生。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D789D45-2542-444C-828A-21326EB40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810125"/>
            <a:ext cx="9429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D166"/>
                </a:solidFill>
              </a:defRPr>
            </a:pPr>
            <a:r>
              <a:rPr sz="1800" b="1">
                <a:solidFill>
                  <a:srgbClr val="FFD166"/>
                </a:solidFill>
              </a:rPr>
              <a:t>核心語氣：不是寫實災難，而是荒謬、諷刺、可愛又有壓迫感的卡通末日。</a:t>
            </a:r>
          </a:p>
        </p:txBody>
      </p:sp>
    </p:spTree>
    <p:extLst>
      <p:ext uri="{BB962C8B-B14F-4D97-AF65-F5344CB8AC3E}">
        <p14:creationId xmlns:p14="http://schemas.microsoft.com/office/powerpoint/2010/main" val="9359066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85758C1-74CE-4700-B589-863639FF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E85301-BC4E-414A-9D04-83ECBC2F6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2012EB-B028-483D-B8DD-553560FCE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4B347B6-6F90-4DEA-92C3-67CACE576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635D2A-98F1-4DA7-8E83-33161A66E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CD7201-0CE3-42C7-82BA-60C80AF99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3532E0F-E87B-4D03-8DB4-68FC60B4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CFC3371-A699-4805-92BE-E9375B634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6F955D-5428-4150-A500-33EC9671D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E3E23F3-FA79-40FF-970D-06C23B05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783027-F5C3-45EE-BF93-6C72ABC0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66374-0E10-4E50-A98D-53CECDEE3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BA6FB8-A4D6-4B15-B073-5D3941F9C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F8542E9-AC5F-4575-B640-8BA7CECF2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5845A7-C93E-49B8-8913-1B22E04A7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B9B3A6F-C0FA-4E45-8243-5C4ADF0A6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6D1882-3CBC-4CAE-B169-8E37386D6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46BF00-A6E0-42E1-9CD0-2BFB34925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9772D3B-84F2-447C-AE73-28B1B3AB8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F217F86-21EF-4E76-BE3B-19629569B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4011B2-883F-45BB-994F-C8542949F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DA6721-24B1-4FD9-A261-59837D3E9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7AC144-79A7-4EE7-B743-D3EBB9BD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4C911D-4CC4-4175-9FA1-A38ED3D5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B32CC0A-BA37-4E4E-85EE-2AFC0900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A71938-2765-41AD-8000-FD3968D02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EF6448-F1D3-4A24-9649-0CC031517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6E1A394-9032-4736-8B04-5A142EDFD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A40724A-1E9E-4901-9870-15E83343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0D60773-F7C3-447D-BACD-79DFF176D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123937-8351-4F27-8EE3-7802A7838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CORE LOOP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787443-54BD-457C-9D82-D3899ED88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核心循環：Slot 不是附加功能，是整局節奏引擎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99C2EF0-25BF-4C6B-8DD0-292CF8AA9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玩家爽點來自「越想豪賭，越要在戰鬥中承擔風險」。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436F68F-E6A5-4952-9C5A-F9A181542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8B17C93-1D71-4F88-A71F-5BAC1E987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E7B8F0-59D5-42FB-8D5D-A2B23742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C58B5CD-511A-43EF-9959-DF34358AC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742950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A61A70-0ED4-457C-9BEE-C20E0412B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123950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打怪變強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A8B2002-B3AD-4F3C-B794-4F090B50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1075" y="1447800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A8B3BD"/>
                </a:solidFill>
              </a:defRPr>
            </a:pPr>
            <a:r>
              <a:rPr sz="975">
                <a:solidFill>
                  <a:srgbClr val="A8B3BD"/>
                </a:solidFill>
              </a:rPr>
              <a:t>走位、擊殺、撿 EXP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A53DEF-4174-4B43-BEBE-1A477E95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6998" y="2092181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A4A588D-02E8-40E1-9A3E-CABEBC4E5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0348" y="2473181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撿錢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7A9D810-A335-46FB-8712-4227DE7D6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2248" y="2797031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A8B3BD"/>
                </a:solidFill>
              </a:defRPr>
            </a:pPr>
            <a:r>
              <a:rPr sz="975">
                <a:solidFill>
                  <a:srgbClr val="A8B3BD"/>
                </a:solidFill>
              </a:rPr>
              <a:t>現金是當局下注資源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E8C5DEA5-19DA-4572-9A89-F7E37D6B3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1341" y="4275282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A422BB8-885E-48A3-B992-45A7E2B0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44691" y="4656282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選擇賭法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5117182-C864-48ED-9A05-619095369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6591" y="4980132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A8B3BD"/>
                </a:solidFill>
              </a:defRPr>
            </a:pPr>
            <a:r>
              <a:rPr sz="975">
                <a:solidFill>
                  <a:srgbClr val="A8B3BD"/>
                </a:solidFill>
              </a:rPr>
              <a:t>50 穩定、150 建構、400 豪賭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0B4108-ECC9-4782-8A4A-B971ED3FC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09" y="4275282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A260D16-53AC-46F4-AAF4-13AFE14D4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3659" y="4656282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071018"/>
                </a:solidFill>
              </a:defRPr>
            </a:pPr>
            <a:r>
              <a:rPr sz="1575" b="1">
                <a:solidFill>
                  <a:srgbClr val="071018"/>
                </a:solidFill>
              </a:rPr>
              <a:t>抽到大升級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AF27250-EDBC-4F54-8322-45F93B9C1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75559" y="4980132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071018"/>
                </a:solidFill>
              </a:defRPr>
            </a:pPr>
            <a:r>
              <a:rPr sz="975">
                <a:solidFill>
                  <a:srgbClr val="071018"/>
                </a:solidFill>
              </a:rPr>
              <a:t>神裝、武器進化、核心流派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AA0A47-8674-412E-9A48-570F576E5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4652" y="2092181"/>
            <a:ext cx="1371600" cy="1371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F969850F-7877-4CED-9DD4-228E73719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8002" y="2473181"/>
            <a:ext cx="1104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挑戰更強敵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0401FB-09AB-426C-92BD-810D9F9CA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9902" y="2797031"/>
            <a:ext cx="11811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>
                <a:solidFill>
                  <a:srgbClr val="A8B3BD"/>
                </a:solidFill>
              </a:defRPr>
            </a:pPr>
            <a:r>
              <a:rPr sz="975">
                <a:solidFill>
                  <a:srgbClr val="A8B3BD"/>
                </a:solidFill>
              </a:rPr>
              <a:t>敵潮變厚，掉更多錢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B09BD2F-AC86-4ABC-A591-DF588DA9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714625"/>
            <a:ext cx="1428750" cy="1428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19050">
            <a:solidFill>
              <a:srgbClr val="26374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A72DA45-CB1C-4CC4-BA3F-E209DA7A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571750"/>
            <a:ext cx="1146810" cy="139255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0504A57-99F5-4122-8EEE-436102E8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8" y="2801112"/>
            <a:ext cx="737235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322" b="1">
                <a:solidFill>
                  <a:srgbClr val="FFD166"/>
                </a:solidFill>
              </a:defRPr>
            </a:pPr>
            <a:r>
              <a:rPr sz="2322" b="1">
                <a:solidFill>
                  <a:srgbClr val="FFD166"/>
                </a:solidFill>
              </a:rPr>
              <a:t>777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79DF856-9FE2-448F-B8C7-CCB4D1537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4430" y="3276219"/>
            <a:ext cx="819150" cy="294894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ECE9C0E-F1E1-447D-B368-30DCF069F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5388" y="3333560"/>
            <a:ext cx="737235" cy="16383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3" b="1">
                <a:solidFill>
                  <a:srgbClr val="42F59B"/>
                </a:solidFill>
              </a:defRPr>
            </a:pPr>
            <a:r>
              <a:rPr sz="903" b="1">
                <a:solidFill>
                  <a:srgbClr val="42F59B"/>
                </a:solidFill>
              </a:rPr>
              <a:t>ALL IN</a:t>
            </a:r>
          </a:p>
        </p:txBody>
      </p:sp>
    </p:spTree>
    <p:extLst>
      <p:ext uri="{BB962C8B-B14F-4D97-AF65-F5344CB8AC3E}">
        <p14:creationId xmlns:p14="http://schemas.microsoft.com/office/powerpoint/2010/main" val="40094900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FD99D91-D5B3-48B0-952F-FBF1B1EC3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32B2EB-0FB6-492C-8F93-04AA999D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0D81A0-DFF3-466C-9491-AEA2BA54B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62880B-D821-4B0D-B231-25B201FF0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CEECEB-4F3E-404F-B09A-EBA4701AA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6A26F4-EBC6-46FB-B957-F3AF08235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0A5337-482F-4050-BBE5-B7223294B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C5631CF-D43A-4406-9271-E199816A0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D80F0-61C2-4346-9F75-282160982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998ACF-E066-4EB9-AD2C-E7DADF542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8FCA70-66CC-4469-A29A-DF178E8AB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2DD6AAF-7FE4-46D7-BB80-27B5FF5C8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8A4656-306D-4ED1-A79E-8703B024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A70C1C-86B9-4009-8A59-7D4CF03DA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506F16-9A3B-4263-AC73-EBE1C03EF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234CB1-D026-494E-9C4F-D4D8FCF7F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D365E-2B93-4EBD-967B-D5C7CF6F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A76A1F8-0159-4446-BB2E-9FDDCD7C2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89644E-A522-48EB-AF00-FE70F4363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BE9F05-A4D0-4F3B-A618-626AB840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71A566-5D78-4CC4-85B4-9F2823F30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E3562AF-F786-456C-809D-EA5A2BA4A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DBA5C43-A610-48A9-BC1E-A1166015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FF87EA-EB8B-475B-AF54-E85C422A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77F3DB8-174D-407A-9BD7-35491D800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CEFFE02-5544-4AAB-AB5D-115536F7A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1DCE9AB-1C58-4B52-ACAA-0DC93A0CC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0BC4FA3-FF7C-4A09-91FB-270623952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68C49E1-4192-4277-9471-76DF7FB4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83F9BEE-3EA0-4B27-A153-15B37237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AE57DC0-733C-4B2C-B5E5-806AE0539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GROWTH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12E4727-DA4E-43D4-BA87-78840AB42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兩層成長：穩定累積 vs 爆發改局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D51AFF4-A6AB-4603-9373-92176DDB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小升級讓玩家可靠地變強；大升級讓每一局長出奇怪流派。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AD17951-3380-4619-A6ED-A7216BB37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6845ACE-5066-46B6-B87F-5C5BA6BA4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10B4FD-1D8E-47A9-A481-4F92D72ED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FA1B4CC-1320-4337-AF95-A08274B48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49530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7FAEB6D-4580-4F62-9F61-DA8750C70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9050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5E74CC3-B22E-46E1-8523-DB9A3C189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76450"/>
            <a:ext cx="459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小升級：穩定成長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8E6658F-E6BB-4B34-8373-72757D826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41935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升級三選一，補足基礎數值。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攻擊力、攻速、範圍、移速、召喚、生存、資源獲取。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功能：維持節奏，避免玩家空窗。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618B565-CA66-439B-87A9-FA5D8FEA2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4953000" cy="3143250"/>
          </a:xfrm>
          <a:prstGeom xmlns:a="http://schemas.openxmlformats.org/drawingml/2006/main" prst="roundRect">
            <a:avLst>
              <a:gd name="adj" fmla="val 303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6D9FCE-D567-4A59-AAFB-1B455CD9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762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C12F82-9D50-4DBF-8C66-640555FAF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076450"/>
            <a:ext cx="4591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大升級：Slot Game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63D4428-A057-45C7-9000-51E3CAF0D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2419350"/>
            <a:ext cx="45720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用當局現金下注，取得會改變玩法的獎勵。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神裝、武器進化、特殊召喚物、核心技能、詛咒裝備。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功能：製造期待、冒險與記憶點。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31105E-C0F9-4119-9CCA-552D4777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334000"/>
            <a:ext cx="36576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4B5C"/>
                </a:solidFill>
              </a:defRPr>
            </a:pPr>
            <a:r>
              <a:rPr sz="1350" b="1">
                <a:solidFill>
                  <a:srgbClr val="FF4B5C"/>
                </a:solidFill>
              </a:rPr>
              <a:t>一句設計準則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FF4BB5C-8A2D-4D1C-8CDF-990F9F1DB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1200" y="5638800"/>
            <a:ext cx="8229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小升級決定數值，大升級決定這一局到底能玩出什麼怪東西。</a:t>
            </a:r>
          </a:p>
        </p:txBody>
      </p:sp>
    </p:spTree>
    <p:extLst>
      <p:ext uri="{BB962C8B-B14F-4D97-AF65-F5344CB8AC3E}">
        <p14:creationId xmlns:p14="http://schemas.microsoft.com/office/powerpoint/2010/main" val="84335491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5F38599-1904-40CB-B427-C1A6D5E7D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9EB7AC-67BA-4739-8A48-FF09BF565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249CE43-8546-44CF-86A2-DEE6CED67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A2FCF1-B5F9-4DE8-8861-B0664E16C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D1EEF8-B75C-457C-9DBE-708AA8549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5733968-39DD-4C43-B08D-ACA051213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AA2586-246E-4BB0-B0FC-3A94A1525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2D3916-B96C-4459-905F-8F9D6FBF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FCAEC2-C045-40F6-8F08-397D8CC36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FC773B-710C-4DE2-85C3-AA15CD0C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A53A49-73F1-4E8A-9F9C-76DA92FE1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14C927A-CFCF-48E7-AAFC-8444D9ECE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B4E2AB-0A46-42B9-AA5E-CE9833BFB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32CE28-27AA-4CFA-982B-B85889861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54AE66E-E182-4B02-AFBE-ED86E36D4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CFEA6F-ADA3-4AE6-8BB1-BA2540242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74F4912-3198-4106-ABC4-62231747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380292C-D94D-44F5-B9A0-29788092C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0BAF06-AC65-47FD-BBFA-3F6DBEFB7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08490C2-C704-4EE5-BF62-FCA93B528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B752254-4A3C-4BEC-9352-AF647A774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F1A5497-26C4-4330-B9AA-3D6404E99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97DAD72-2BF5-4BDA-8127-B92CA6F1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9AAE81-D2E0-4CDE-B784-AE48A7083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FD83BE0-0789-4FD6-B0B3-E1247426B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76EC6A-D77D-4EE1-A522-DE7A98C9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BE21C7C-C52C-498E-B43B-0EABEF1B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74A50D7-25B0-48D1-9247-5CEDF625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D5AB5DA-165A-49B2-8E96-A0E9BBD9D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023A615-13EE-47DC-B665-EFFA73F7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13EE3BF-956F-4BB5-9100-B0757122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SLOT SYSTEM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92FB6CC-D0E8-45C0-86AC-8BC32DE11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三種機台：玩家每次下注都要有理由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E3E69C-B203-4088-BE6C-85943E076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高級機台不是更坑，而是最低品質更高、傳說與神話更常出現。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3F8105C-A610-4AF5-BEE9-A220C77B3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404962-FFA0-413F-BA22-DA8470134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B60458-34BB-4054-83FF-7C5C1622D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20978F7-2544-45B3-9A53-F6CCC7A08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00250"/>
            <a:ext cx="2952750" cy="342900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1D5A4E3-4F29-40B9-8ABB-D628AC25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2324100"/>
            <a:ext cx="1360170" cy="165163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E6227ED-7B86-499F-9F9A-2F2E6426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2596134"/>
            <a:ext cx="87439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54" b="1">
                <a:solidFill>
                  <a:srgbClr val="FFD166"/>
                </a:solidFill>
              </a:defRPr>
            </a:pPr>
            <a:r>
              <a:rPr sz="2754" b="1">
                <a:solidFill>
                  <a:srgbClr val="FFD166"/>
                </a:solidFill>
              </a:rPr>
              <a:t>777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13BC777-2FDB-4003-B186-9C8923C437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6910" y="3159633"/>
            <a:ext cx="971550" cy="3497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0475AD6D-BF9B-40C0-921B-3B965244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5488" y="3227642"/>
            <a:ext cx="874395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1" b="1">
                <a:solidFill>
                  <a:srgbClr val="42F59B"/>
                </a:solidFill>
              </a:defRPr>
            </a:pPr>
            <a:r>
              <a:rPr sz="1071" b="1">
                <a:solidFill>
                  <a:srgbClr val="42F59B"/>
                </a:solidFill>
              </a:rPr>
              <a:t>ALL IN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9C11652-3B60-41D8-AFE9-066A0AD0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0957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路邊小鋼珠機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71DAEC-B049-4FC9-AAC1-A49694A08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386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42F59B"/>
                </a:solidFill>
              </a:defRPr>
            </a:pPr>
            <a:r>
              <a:rPr sz="2850" b="1">
                <a:solidFill>
                  <a:srgbClr val="42F59B"/>
                </a:solidFill>
              </a:rPr>
              <a:t>50元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BB4ECC47-16BF-400A-BD2F-56F59025B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9530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前期、缺錢時</a:t>
            </a:r>
          </a:p>
          <a:p xmlns:a="http://schemas.openxmlformats.org/drawingml/2006/main">
            <a:pPr algn="ctr"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小獎多，容易累積能力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551924BB-3DBF-4633-A7C1-DFBFD2706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000250"/>
            <a:ext cx="2952750" cy="342900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EB8B2BD-4335-4D8F-98A3-CA914042A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324100"/>
            <a:ext cx="1360170" cy="165163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9CFF8AF-8A8C-4E6D-88A9-BCB432D28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2596134"/>
            <a:ext cx="87439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54" b="1">
                <a:solidFill>
                  <a:srgbClr val="FFD166"/>
                </a:solidFill>
              </a:defRPr>
            </a:pPr>
            <a:r>
              <a:rPr sz="2754" b="1">
                <a:solidFill>
                  <a:srgbClr val="FFD166"/>
                </a:solidFill>
              </a:rPr>
              <a:t>777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AEB6E54-3D72-4383-8E93-083F440C3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2610" y="3159633"/>
            <a:ext cx="971550" cy="3497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220F31-324C-4225-B5F3-D02737FBB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1188" y="3227642"/>
            <a:ext cx="874395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1" b="1">
                <a:solidFill>
                  <a:srgbClr val="42F59B"/>
                </a:solidFill>
              </a:defRPr>
            </a:pPr>
            <a:r>
              <a:rPr sz="1071" b="1">
                <a:solidFill>
                  <a:srgbClr val="42F59B"/>
                </a:solidFill>
              </a:rPr>
              <a:t>ALL IN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523443A-A18F-4DBB-B886-15F0AD0D9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0957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地下賭場機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2D8DD36-DCC1-4517-8D57-2D0F5C1B9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4386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D166"/>
                </a:solidFill>
              </a:defRPr>
            </a:pPr>
            <a:r>
              <a:rPr sz="2850" b="1">
                <a:solidFill>
                  <a:srgbClr val="FFD166"/>
                </a:solidFill>
              </a:rPr>
              <a:t>150元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775105-F7FE-4D39-8AE3-13ACF935C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9530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中期建立流派</a:t>
            </a:r>
          </a:p>
          <a:p xmlns:a="http://schemas.openxmlformats.org/drawingml/2006/main">
            <a:pPr algn="ctr"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稀有技能與武器進化機率高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38B2E861-D2F2-4BCA-BBA0-62A5E94E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000250"/>
            <a:ext cx="2952750" cy="3429000"/>
          </a:xfrm>
          <a:prstGeom xmlns:a="http://schemas.openxmlformats.org/drawingml/2006/main" prst="roundRect">
            <a:avLst>
              <a:gd name="adj" fmla="val 451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4B5C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6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02157132-4585-4800-B4E4-05E79A067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324100"/>
            <a:ext cx="1360170" cy="1651635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C5CE264-C262-4ABE-9817-C38793188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2596134"/>
            <a:ext cx="874395" cy="42748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754" b="1">
                <a:solidFill>
                  <a:srgbClr val="FFD166"/>
                </a:solidFill>
              </a:defRPr>
            </a:pPr>
            <a:r>
              <a:rPr sz="2754" b="1">
                <a:solidFill>
                  <a:srgbClr val="FFD166"/>
                </a:solidFill>
              </a:rPr>
              <a:t>777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64B4A2C-FF3C-49A1-9F14-CB894C0E2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8310" y="3159633"/>
            <a:ext cx="971550" cy="34975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55221C-3F26-4DA0-B387-210CC045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86888" y="3227642"/>
            <a:ext cx="874395" cy="19431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71" b="1">
                <a:solidFill>
                  <a:srgbClr val="42F59B"/>
                </a:solidFill>
              </a:defRPr>
            </a:pPr>
            <a:r>
              <a:rPr sz="1071" b="1">
                <a:solidFill>
                  <a:srgbClr val="42F59B"/>
                </a:solidFill>
              </a:rPr>
              <a:t>ALL IN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41E9BDB-5AA6-4338-BB9E-5835B97D2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95750"/>
            <a:ext cx="2495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5F7FA"/>
                </a:solidFill>
              </a:defRPr>
            </a:pPr>
            <a:r>
              <a:rPr sz="1800" b="1">
                <a:solidFill>
                  <a:srgbClr val="F5F7FA"/>
                </a:solidFill>
              </a:rPr>
              <a:t>至尊777機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EC9E558-9D8A-4866-B294-D168C929E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438650"/>
            <a:ext cx="24955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FF4B5C"/>
                </a:solidFill>
              </a:defRPr>
            </a:pPr>
            <a:r>
              <a:rPr sz="2850" b="1">
                <a:solidFill>
                  <a:srgbClr val="FF4B5C"/>
                </a:solidFill>
              </a:rPr>
              <a:t>400元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4AA4D832-B6DA-4D59-A14B-08F2B753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953000"/>
            <a:ext cx="23050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後期豪賭</a:t>
            </a:r>
          </a:p>
          <a:p xmlns:a="http://schemas.openxmlformats.org/drawingml/2006/main">
            <a:pPr algn="ctr"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傳說裝備與神話技能主舞台</a:t>
            </a:r>
          </a:p>
        </p:txBody>
      </p:sp>
    </p:spTree>
    <p:extLst>
      <p:ext uri="{BB962C8B-B14F-4D97-AF65-F5344CB8AC3E}">
        <p14:creationId xmlns:p14="http://schemas.microsoft.com/office/powerpoint/2010/main" val="2116631990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17B7D4-9414-49F6-9187-FA3CA875F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1117EE8-E440-40A2-A3EE-AA7D83319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DE99234-B96A-4572-B411-07F755BEE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D547A-4F69-4002-B921-4701D7105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79E91E5-7CB8-4A83-9349-5D92093F5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6D565BF-19F9-42D5-9F81-667719A7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12061-7E9D-48DE-B86D-DC4AEBEA0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AECB2B-4A18-40CB-A0AD-281BFF0E5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2CA6A0-D709-48CD-AD54-67937963E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3DC243-725C-4705-998A-7449891E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487015-B1AC-43BA-BE1B-6322326E5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B65832-96FE-4B6F-993B-96E41D02A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253B43-719B-4811-9D5E-D4497DA48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033B5E8-85BC-416E-89DF-BE6F1B21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EE43FD-9106-4205-ACE1-A06933B0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786ED-FD0D-422E-B98F-8D26F24D3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78CBC65-C4F1-45C3-BC62-EDB9D848F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EF4A06F-4E99-40E3-B5CA-0925FE839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1BF3A0-6CF2-4270-B481-051B98FA9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9CF1B02-C651-4FEF-A91F-E1F0E1F8F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3AEEF8-AD75-4DCC-BB6C-708F85B27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23B1BA4-F45D-4B0D-AA7E-5973678F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7F6A33-E4FB-4A50-A77E-AA3A3783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F77D3D-8623-44BD-8842-5B6AFE2ED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09476D-970A-4799-9DFB-192733D3B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75906F-F116-482F-989D-D5F2EAE5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147F96-F33E-4874-9612-E3E3A1B3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CF6960-8EE7-44AC-AD68-30799F748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7AFBCAB-9BCC-4C69-B168-F774BEDD2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202BD1-2D7C-4D6B-AAD5-3BB1CE66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0FA7DFE-3E21-465F-BA91-0D740E85D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PLAYER TENSION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1523F3B-21CB-4063-8267-9074D968E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最上癮的決策：要不要再忍一下？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A4B19FA-1336-44EF-8260-FC61D25F7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遊戲不只問玩家怎麼打，也問玩家何時把現金轉成戰力。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4E3F5BF-C6B3-4A87-936E-52B5B9BE9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069904-152C-4BCA-BDFC-32B17EC78C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991443B-230A-4C00-9B32-E396B92E8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BA5E7B-E7DF-4CD6-B154-FB89C987A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90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42F59B"/>
                </a:solidFill>
              </a:defRPr>
            </a:pPr>
            <a:r>
              <a:rPr sz="2100" b="1">
                <a:solidFill>
                  <a:srgbClr val="42F59B"/>
                </a:solidFill>
              </a:rPr>
              <a:t>現在花 50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2DE9F2-7362-4C65-8263-22F0AC63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6477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8DEDB84-E4D5-41A0-94AD-F0F6594B6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228850"/>
            <a:ext cx="246126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EFE21B-B6E4-46D4-8844-54C9D3A11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5908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8B3BD"/>
                </a:solidFill>
              </a:defRPr>
            </a:pPr>
            <a:r>
              <a:rPr sz="1425">
                <a:solidFill>
                  <a:srgbClr val="A8B3BD"/>
                </a:solidFill>
              </a:rPr>
              <a:t>穩定補強，降低死亡風險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5B8081-6191-45E1-84A4-188F2A815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33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D166"/>
                </a:solidFill>
              </a:defRPr>
            </a:pPr>
            <a:r>
              <a:rPr sz="2100" b="1">
                <a:solidFill>
                  <a:srgbClr val="FFD166"/>
                </a:solidFill>
              </a:rPr>
              <a:t>存到 150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313C326-8E01-40A0-8B47-50594F8F2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71850"/>
            <a:ext cx="6477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04A9461-C79E-4357-BE8B-BA378871C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371850"/>
            <a:ext cx="401574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5BC6F26-60C0-4AC7-9F25-57572A201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7338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8B3BD"/>
                </a:solidFill>
              </a:defRPr>
            </a:pPr>
            <a:r>
              <a:rPr sz="1425">
                <a:solidFill>
                  <a:srgbClr val="A8B3BD"/>
                </a:solidFill>
              </a:rPr>
              <a:t>開始建立流派，期待感上升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4D28CF2-7F54-40B5-B795-16FC5DCC3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F4B5C"/>
                </a:solidFill>
              </a:defRPr>
            </a:pPr>
            <a:r>
              <a:rPr sz="2100" b="1">
                <a:solidFill>
                  <a:srgbClr val="FF4B5C"/>
                </a:solidFill>
              </a:rPr>
              <a:t>一路等 400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77C827-C470-46F6-A605-73AC7EF9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647700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07CD944-3392-4619-96F2-8C8F0AE72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514850"/>
            <a:ext cx="5699760" cy="2476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0208F790-9294-42AB-A46A-F6B1CFC0D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876800"/>
            <a:ext cx="685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25">
                <a:solidFill>
                  <a:srgbClr val="A8B3BD"/>
                </a:solidFill>
              </a:defRPr>
            </a:pPr>
            <a:r>
              <a:rPr sz="1425">
                <a:solidFill>
                  <a:srgbClr val="A8B3BD"/>
                </a:solidFill>
              </a:rPr>
              <a:t>最高報酬，也可能在存錢途中暴斃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B7A85D4-CE3E-481F-BE4B-8702E22B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975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設計重點：讓玩家每 1～2 分鐘都重新評估一次「安全變強」與「豪賭翻身」。</a:t>
            </a:r>
          </a:p>
        </p:txBody>
      </p:sp>
    </p:spTree>
    <p:extLst>
      <p:ext uri="{BB962C8B-B14F-4D97-AF65-F5344CB8AC3E}">
        <p14:creationId xmlns:p14="http://schemas.microsoft.com/office/powerpoint/2010/main" val="38674117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FB9B806-3D73-4469-B36E-7B53FF3CF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431658-DF9C-44AF-882B-B2B1BCB6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679638-9ADF-4891-93A1-E6E63F681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4BFC68-5F0B-49DB-94E2-8B2854E5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E3819D-ED46-4772-89AD-9D9C6CDC6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FCD60C-29D2-43D8-AE01-A428AE329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168C1F-28B6-4AC9-9548-6D6A4315E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7EA562-C43E-4DDE-8BB7-029CEEA4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ABF606-3BC0-4971-A88E-58FC7F688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CD9BA3-1D05-4941-8191-1A138AA52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157126F-DB12-4F5C-AD16-273E52B8D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FCFC11D-9D9C-4B57-86D9-C04098259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FF68F8-4554-4666-BD15-C2841C3CD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75BAEF-3564-47C3-BCDA-BADA72EA0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9FD3B4F-0D4E-465C-819C-12182C1B8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B60FF6-D6B7-4B26-A857-573B992A4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A6AEC2-0F56-4452-B4B3-1178C304A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756493-B616-48FD-93F6-6F9816875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17873D-87E4-46CE-A52D-6A9FC4D45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6F35BE-7439-4AED-96C4-4666E52F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3B06CFE-ADB5-4760-B566-DBEAF886D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B3B449-6815-447A-A8E8-18657A065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F9C8DF-DE52-4CCD-8677-ADCA74A7F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EBA862-B74D-4879-A666-863C880A9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3C4304-5D18-44AE-BE26-4CC3F97EC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01116B3-6C9D-49FD-94B7-B076BC9A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1A9F20D-47FF-4D6A-8851-98374EA6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17A9D47-9F5A-4D90-B205-97C6DFD01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64CCDD8-168E-4572-8A72-83980BCE8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71481CB-B56B-41CC-9750-37353386F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88E7BA-CE37-48D6-98AD-86FFF1586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PACING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5AD8271-4B70-4022-877E-20279F2D1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20 分鐘關卡節奏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401AE64-6424-44ED-B70F-D13B577A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Slot 場所與菁英怪交錯出現，讓戰鬥和豪賭互相推動。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28622C-D32E-472F-AE95-146A089DC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DD5FA6E-E563-4303-B83D-033BA6C35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157C205-0625-4DC0-9E82-E09572DBF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FFF4B5F-667F-4FDC-9737-529914845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906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7150">
            <a:solidFill>
              <a:srgbClr val="26374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C25A35E-FFBE-4C4D-9C7D-88FA91470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624D265-BA5E-45E0-90AB-43FCC82C6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F59B"/>
                </a:solidFill>
              </a:defRPr>
            </a:pPr>
            <a:r>
              <a:rPr sz="900" b="1">
                <a:solidFill>
                  <a:srgbClr val="42F59B"/>
                </a:solidFill>
              </a:rPr>
              <a:t>0m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102E5A0-9067-4D55-90CD-847CD8413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4767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熟悉武器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C688AF-6444-4283-8CD7-CA1AA81D0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239EDA1-061B-4CDC-918C-6205F99FB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3m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79AF2F3-759F-4AD2-9EC7-FD016032B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290512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Slot 1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2BD9E1-03F2-4B03-8A86-A32382412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43C0840-8656-4AE7-A160-1FC20D55B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F59B"/>
                </a:solidFill>
              </a:defRPr>
            </a:pPr>
            <a:r>
              <a:rPr sz="900" b="1">
                <a:solidFill>
                  <a:srgbClr val="42F59B"/>
                </a:solidFill>
              </a:rPr>
              <a:t>5m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03CA8BC-2EE7-4285-AC02-52A2FAE3F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4767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菁英怪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2EBCD2C9-50EE-44FB-A603-7D876D571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D928CFE-1F76-40C5-B1D8-8D13453C7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8m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ACDC413-BC1C-46B2-9853-64CA419AD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90512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Slot 2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539D8B-CF61-423B-930A-4DA589496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DE3AB1A-B009-4834-B5AB-FB810058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4B5C"/>
                </a:solidFill>
              </a:defRPr>
            </a:pPr>
            <a:r>
              <a:rPr sz="900" b="1">
                <a:solidFill>
                  <a:srgbClr val="FF4B5C"/>
                </a:solidFill>
              </a:rPr>
              <a:t>10m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9F39D50-8787-41B8-AA8A-1BB98AEB1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44767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小 BOSS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7B8EE59-4789-4CC3-99B6-BCE6223DC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754A662-890D-4701-A6B7-00AA8A50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F59B"/>
                </a:solidFill>
              </a:defRPr>
            </a:pPr>
            <a:r>
              <a:rPr sz="900" b="1">
                <a:solidFill>
                  <a:srgbClr val="42F59B"/>
                </a:solidFill>
              </a:rPr>
              <a:t>12m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B381149-9C05-4E1A-9668-67521E1B5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90512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機關啟動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2CB9AB40-BB0A-4BC6-8B48-C0F7ED2A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6433F59-2CBF-4784-8A1E-44D05C5B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13m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486779A-FA92-43DD-B944-A109C1927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767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Slot 3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3E92553-B4EE-40C0-8E17-0050344A9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19F7B9A-8FEE-4C7E-BCE9-57FFF7F68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F59B"/>
                </a:solidFill>
              </a:defRPr>
            </a:pPr>
            <a:r>
              <a:rPr sz="900" b="1">
                <a:solidFill>
                  <a:srgbClr val="42F59B"/>
                </a:solidFill>
              </a:rPr>
              <a:t>15m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E4E2B6B-45A1-4228-BAB0-E4A473B7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90512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敵潮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9FB6045-8AA2-40EA-843A-3192CAE76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499D76F-0556-4352-ABC0-48D039C9E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42F59B"/>
                </a:solidFill>
              </a:defRPr>
            </a:pPr>
            <a:r>
              <a:rPr sz="900" b="1">
                <a:solidFill>
                  <a:srgbClr val="42F59B"/>
                </a:solidFill>
              </a:rPr>
              <a:t>17m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44A89623-DFFE-4CE7-9155-868382325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4476750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最後商店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9A3CB3-A723-41E7-A81C-8AD9A7C6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581400"/>
            <a:ext cx="266700" cy="266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608C03E3-2C3B-4CF1-8CAD-B209647C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350" y="4000500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4B5C"/>
                </a:solidFill>
              </a:defRPr>
            </a:pPr>
            <a:r>
              <a:rPr sz="900" b="1">
                <a:solidFill>
                  <a:srgbClr val="FF4B5C"/>
                </a:solidFill>
              </a:rPr>
              <a:t>20m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73B5482-9E85-42D1-8986-8A12B36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905125"/>
            <a:ext cx="1028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>
                <a:solidFill>
                  <a:srgbClr val="F5F7FA"/>
                </a:solidFill>
              </a:defRPr>
            </a:pPr>
            <a:r>
              <a:rPr sz="1050">
                <a:solidFill>
                  <a:srgbClr val="F5F7FA"/>
                </a:solidFill>
              </a:rPr>
              <a:t>最終 BOSS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3151B32-4808-45A9-96F1-532D69CB7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91125"/>
            <a:ext cx="5905500" cy="704850"/>
          </a:xfrm>
          <a:prstGeom xmlns:a="http://schemas.openxmlformats.org/drawingml/2006/main" prst="roundRect">
            <a:avLst>
              <a:gd name="adj" fmla="val 13514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E78B047-FAC1-43D0-A88B-1A6BC7A70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191125"/>
            <a:ext cx="76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F147D6C-F8AA-4426-96F7-4CF0B55A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362575"/>
            <a:ext cx="5543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關卡設計提醒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F4E7B89-7150-4792-91CC-0DE8F0F7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05475"/>
            <a:ext cx="5524500" cy="38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Slot 機可用地下賭場入口進入獨立小房間，避免玩家為了找機台而破壞主戰鬥節奏。</a:t>
            </a:r>
          </a:p>
        </p:txBody>
      </p:sp>
    </p:spTree>
    <p:extLst>
      <p:ext uri="{BB962C8B-B14F-4D97-AF65-F5344CB8AC3E}">
        <p14:creationId xmlns:p14="http://schemas.microsoft.com/office/powerpoint/2010/main" val="21419379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3CA52F4-EF6E-4DDC-9F74-EDF71003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CB3B04-DC95-40E1-83C9-1B2027C0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41A8249-7F2D-46CB-84C4-2CBB44310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F2194F-AEDF-41C8-B5AD-C7B499ED0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273CE-ED55-402D-B59E-818FA4479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6CA594-377D-46E7-981C-DE6A201417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AF35C73-5FA8-4B26-ADC1-C304FEA5F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32965-F495-4FAE-996E-08A421AC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D99DD6-8818-4EF7-8207-FAB14EA7E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DEA241-CBDA-426B-ACEE-BCF1EC82E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DB6AF5-6582-4BA6-B7C9-9BBAD915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51356C-E34E-4D50-8EF7-15C5629AE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54F8B-5160-4A2B-A293-51A4C3CC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C28CB6-8108-4803-8937-39BED55CA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41EAEF4-8C6F-4C6F-B2FF-E85062DB7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DF6707-0FDB-488E-BFD8-0C97A17DD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E1FA15-9BE7-4B79-AED8-AB6CA7B88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D0BAEE-D24A-4437-8758-CFBBE8317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429F0-6E2B-4DC8-9B30-20CADA2D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E91F174-31C8-4F89-811D-16A219126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F35C41-9671-4F09-9831-A66990339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8402F6-FCC6-434F-8536-2DD2DF545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892B08B-083A-4362-B44C-40A8B91F2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7CB95D-B932-455B-8320-1A9BF1C60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99AC80-9B25-409C-A714-9F05A2FFF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2EC27D1-464A-4290-A911-B520F7BD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0DECF2C-C205-4C65-991E-A62C1290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782277C-7E8C-41F7-A721-36C01DB3D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72D213A-0063-4480-86AC-3E3387294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D45F660-4AEA-4B2A-8033-C87581CA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8848065-89FA-4F89-B753-0426690B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MVP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D3E664-A2F8-49FF-B45D-DE2CED869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第一版先做台灣 MVP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24FB339-5635-429C-8BCC-2549C52C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先驗證核心爽感，不要一開始同時做十張地圖與六名角色。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46C0E08-0F53-4696-A12A-BE34D7483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D7C65C9-2DDC-4FE9-AE1F-C6ABF63E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D291E98-8AA2-44F8-95F1-2D92725F3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09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33481E7-752D-47E8-A762-554AFDB7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3048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301473F-5105-4A4B-88C8-C35F3DEBD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AF40163-ED87-44EB-9FF6-FAAC18DA8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71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地圖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ACF12C-151C-418D-B9D4-992388E1C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146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台灣：爆倉夜市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F67A23A-4A18-4C62-9A0A-172DBDB97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3048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0B46632-D25E-473A-9ADE-BF8ECCEE9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FE73E16-858C-4D77-AFAD-62498FF51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171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角色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0AE3081-E8F4-424C-9286-56644820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25146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勞工男、勞工女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1B8B260-31DC-4E95-8688-408F913AF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3048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0AB236-A500-47CA-A9D1-307D05A99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00025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6EB96EE-35A3-4886-B277-463393A03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7170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武器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755E3F5-A83A-422A-8B21-FF1D6D64E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5146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骰子、撲克牌、魚機砲台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588A04E-849F-475C-9BD8-273A4C71B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3048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9BD607A-8528-45BD-AB3B-F8E62945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290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E867DFD-124B-4A35-B9BC-328158DA6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6004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敵人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1B85B89-251B-4E64-98CD-9CAD96240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943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近戰機器人、遠程無人機、高速機車、自爆機、菁英晶片搬運機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086B64C-4330-4E92-B10B-8B89BF206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3048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45914D53-C724-477D-A559-0AB130F0E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4290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AFEF539-8526-417E-901F-82A580734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6004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BOSS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CB60DC9-08AC-4A2E-8C33-39C42ECE3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3943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皮衣算力王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CAE7856F-4A91-4AB8-B40B-F6E57BFB7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3048000" cy="104775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260AE580-0B3A-4599-A7B3-EFAE1E410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429000"/>
            <a:ext cx="762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B391491-0AD9-4B62-A610-DEDFAE01D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600450"/>
            <a:ext cx="2686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系統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ACE83C-BA0E-4E3B-BBB6-CD4C4EC1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4335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20 小升級、8 Slot 大升級、3 機台、15 永久被動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14C9BD9-148E-4956-8C51-D7CFD2135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334000"/>
            <a:ext cx="10287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MVP 驗證三件事：打怪撿錢是否有爽感｜是否願意冒險存錢拉高級 Slot｜大獎是否真的改變戰鬥玩法</a:t>
            </a:r>
          </a:p>
        </p:txBody>
      </p:sp>
    </p:spTree>
    <p:extLst>
      <p:ext uri="{BB962C8B-B14F-4D97-AF65-F5344CB8AC3E}">
        <p14:creationId xmlns:p14="http://schemas.microsoft.com/office/powerpoint/2010/main" val="7143504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CDA60D-81C0-4B9E-A7EC-3EA02ED61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0A27F8-8FA9-4E80-BB6E-53D59195B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59877E-88FA-4531-957C-C699FE284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F1511-A8BF-4760-B55E-D21BB1933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925B0A-4347-4DC1-A5CF-9B9D0EDA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57BD8-10D7-40E0-84E4-85D8774E3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A6228A4-BE40-4F15-B3C5-1F3AEE5FA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E7EB8C-E587-41DB-B7A3-262470C09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F4E215E-EBA9-4ADA-9B10-1D099803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9B560F-B671-435B-A411-DD2E4741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334348-F2DA-4A2F-BB20-C5F33451C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E449091-E1EE-4A5C-9E23-C1E0D430B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CA1B9B-8E0C-4D0D-8548-13465F5260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8724AD-85BA-4A8B-941C-3CDD4247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D40D24-72A8-4CFA-8E7A-B6188751A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230E5F-AF86-474D-8BA0-E010964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519C5E4-0860-44B0-A35B-A7AAEE9E0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F1BDCC-94DA-4F5F-862A-3B120D742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0A0A910-D0D5-4FC4-947C-8024F512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65AE5C-5139-4598-ACB3-DE2881E5E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1D1CF4D-FE3A-4E28-A4FD-319C1BA67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7E642AA-B5E7-4C09-B629-FDAB9652D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2CBD0A-7BA3-419B-B160-170F5FEAF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E3E15D-9E57-429C-9267-43A295BBA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E2D82D0-96DE-421F-A89E-D8A90F391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7E3038-4160-49EC-BA46-8056357A5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062731-9385-48D2-87AA-B65BA866E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A0D6DA-83AD-438E-A5DC-F4EBE1DEF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337C83E-4D52-41DF-A2A9-472F82A8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E17E90E-4450-4D1A-9D72-446EDB512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5996429-D4A5-4C6E-B08A-750761944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ART DIRECTION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43D856-2F01-4D18-A723-13944AC76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美術風格：卡通末日＋台式黑色幽默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9C326A-47C9-4AFB-8B5A-CC08B623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以可愛外型包住金融崩盤、AI 接管與勞工荒謬感。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AD93253-33C2-4461-BBF9-CD7F4A496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B887369-A0F0-4526-A59E-722BA5AA1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F875DC3-F6EF-4E21-A703-38013CA76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10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A18F458-55A9-4277-8879-09196F2EA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4857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7FBA8B0-45A0-4CDC-8158-435FE9842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00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FAD240A-EFE3-469E-A714-3769BF61A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717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鏡頭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ED0FE4A-06DE-49F6-9233-9FEF6FFFB9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146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俯視角 2D / 2.5D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粗線條卡通人物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動作輪廓要一眼可讀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F421D28-A527-4010-811E-C05E1EE51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4857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CF5E032-8F57-407F-AFC1-A69BD894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5C5315-F921-4938-806F-B2681DB70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1717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世界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3B0D8C-AE67-467D-BF2C-2DC851E2D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5146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霓虹招牌、跑馬燈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紅綠 K 線、鈔票硬幣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夜市與辦公室混成廢土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2F60E3F-11EC-4ECE-809F-E5063796F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4857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E3570BF-26A3-4C92-BA57-7FEBA26C18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6004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73F4E3C-97F2-45F0-8786-C55C4A18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7719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敵人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E4DCA-6F70-4066-9374-795012F35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148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AI 機器人混合辦公設備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金融產品變成武器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可笑但有壓迫感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E749415-12FA-4D90-8E0C-CCC6FED51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485775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DED18D2-C0CD-4C29-AE9F-AD04DACBC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6004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329D4B5-E1B8-4CF3-AACB-A1BA187E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71900"/>
            <a:ext cx="4495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UI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D5026B5-9474-4D6A-B338-95FCA8A27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14800"/>
            <a:ext cx="4476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體力值、工作資歷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可動用資金、韭菜指數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市場收盤時間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C7B7B84-3111-4278-9D44-DA3284864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844540"/>
            <a:ext cx="0" cy="4686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AA5A7806-369A-4029-8F0C-99493A5E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5996940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A0BF3A1-A39F-4BD2-BC5B-E4746DFE8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5813298"/>
            <a:ext cx="0" cy="9997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47AF955-849A-460E-B760-EEAD42829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5965698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74EAE4E0-0125-4E7D-97DF-783ACD01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750814"/>
            <a:ext cx="0" cy="10622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6A99A6A8-50C3-435F-B377-661303E7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3975" y="5903214"/>
            <a:ext cx="17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00DEC4-9848-49E6-948D-EA6F37D6C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713324"/>
            <a:ext cx="0" cy="16870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5B2F9AF-298E-4D2C-9730-47CF38540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5865724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6D2B969-0D59-490A-B409-9450FF9C8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625846"/>
            <a:ext cx="0" cy="17495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FBE587C-DA47-4C66-BEAD-2A53083EC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5778246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B66B4C9-2DFA-4082-A57D-5E43A3218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1325" y="5532120"/>
            <a:ext cx="0" cy="33116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2FCD7BC-77F2-4CC9-93E5-6858A2F07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5684520"/>
            <a:ext cx="17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73B77BE7-BC18-4B98-803C-1626F987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5444642"/>
            <a:ext cx="0" cy="33741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E3EC983B-752B-4EA9-A9D7-CEBAFCFE4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29475" y="5597042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54D5B42E-7B0A-4B0A-9A00-E3BC0432F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9075" y="5282184"/>
            <a:ext cx="0" cy="65608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7EF0CCAC-4BB2-45DB-AE0B-BC8EC287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5434584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23848965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2C37C44-011B-44E2-BEF8-BBA0EDEF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56D3D7-EEF2-4CE3-A137-2FFE1431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D8BB9C-5925-4D03-AC8E-CFA866852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103C2D-B501-4F0E-94BB-1395BF8AC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9362BC-FD3E-48A7-8620-5F719E0CE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F7EA0A-7F09-407C-A739-566383E8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821F15-407F-4C5A-BE4A-34130F564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3B5ABF0-78BC-457B-9182-D5A73178D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1D253F6-C8F8-4ED7-B794-89F629AD6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2B23C4-5123-4686-AB15-49DD5A226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7F29DC-54F7-450C-B876-289DE0AEB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5744A9-1497-4CD8-A3A6-3B0A5FC37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A4B132-0019-4B6D-8378-836AC4123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A48AA0-B7D7-4D28-998E-92ED8954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0F4E5B-936C-4F88-9789-B7605A34F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2BBBFA-3B06-4C87-9CE4-49CE202BC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30253D9-CF2F-457A-A8C2-BE2806FB30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E5DD757-5AD0-4476-A0CC-235B7C969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5CAA9A-5F7A-4016-8ECF-FF98B7C2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11BB15E-720C-43A4-AE56-CFC8E2B30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86AA9-FEC6-4822-BF09-EFB33B9E3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2C7272-CEC0-4EDF-9A75-CFFBCAB4B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B0B10F4-7E07-46F8-B0B6-34CAA8115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78ACB7F-D065-44A4-B055-DD4725C6B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DA5FD8D-9D92-4608-B055-DD646A754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45DFD3D-1F00-4CFF-815C-EBC266ED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D193412-34EB-4993-8950-795392DA6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E45C284-6FBD-4454-A359-8F8189FF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3839A9D-12A2-4A14-8F96-83407A65B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9652C34-5888-4D0F-AD0D-50EA23BEB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FFCB77-C661-4A92-8DEB-C66C138D3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PLAYER ROSTER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C52C780-AB7E-46AB-819A-0863D5DDF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六名玩家角色：職場階級變成戰鬥流派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89B822-C9CE-4AA4-94C2-87344591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每個角色都要能從剪影、武器、動作看出玩法定位。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D16B762-00B9-4D2F-A95F-B1D180A15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3099B5C-0AA4-4299-B59A-9A490E289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0795D2A-8F77-449D-A0CB-65F490701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11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EBA2B64-3653-4B51-937D-C52E6E2BE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1952625"/>
            <a:ext cx="3105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F1B4CC6-4537-432D-9538-E73E6E05C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351" y="2162175"/>
            <a:ext cx="326898" cy="3268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0C6A20-5A74-4CF7-A8AC-06249371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056" y="2518791"/>
            <a:ext cx="475488" cy="579501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A1178ED-4ED3-4D13-9689-4797A309D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97" y="2741676"/>
            <a:ext cx="505206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8DB6B4-BC68-4DD9-8B31-C82AF61CB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351" y="3098292"/>
            <a:ext cx="-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42F59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D19A365-EDCB-4CC7-9C9E-755A03471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249" y="3098292"/>
            <a:ext cx="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42F59B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EE3EB90-4E81-467C-AE7A-F0C6DFA7A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2764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勞工男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D8A329-D887-4FC3-A5F9-B95E119E5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26765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平均型｜骰子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C9BFCCE-898A-4C17-84FD-90D6D5802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11467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</a:defRPr>
            </a:pPr>
            <a:r>
              <a:rPr sz="975" b="1">
                <a:solidFill>
                  <a:srgbClr val="071018"/>
                </a:solidFill>
              </a:rPr>
              <a:t>MVP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F3CC21-4B14-49D4-9C09-DA06988E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952625"/>
            <a:ext cx="3105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3DD6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78BE8B-09A3-41E6-BBE4-0A86F2184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476" y="2162175"/>
            <a:ext cx="326898" cy="3268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A3C15AD-75C8-47B3-A7B4-95199DD93E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81" y="2518791"/>
            <a:ext cx="475488" cy="579501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A7CDE38-7920-458C-AE36-52E24752A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322" y="2741676"/>
            <a:ext cx="505206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19A9350B-1AD5-40AC-98EE-7811529C4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476" y="3098292"/>
            <a:ext cx="-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3DD6FF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1AFD5C00-1654-4131-A7A8-C37F58612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374" y="3098292"/>
            <a:ext cx="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3DD6FF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458B9EDC-CFFA-4E01-8CCA-FDAF2AD88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2764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勞工女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42FE6A6-BD62-4AF9-ADD0-553E3DB7D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765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高速資源｜撲克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59B57B4-9FD2-4800-8704-321CF9ED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1467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</a:defRPr>
            </a:pPr>
            <a:r>
              <a:rPr sz="975" b="1">
                <a:solidFill>
                  <a:srgbClr val="071018"/>
                </a:solidFill>
              </a:rPr>
              <a:t>MVP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E329904-FF4A-415C-BE4D-32038A6EB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52625"/>
            <a:ext cx="3105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01E9640-602A-47AA-AAE4-C76A4212B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601" y="2162175"/>
            <a:ext cx="326898" cy="3268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61724CC2-9C9B-48C0-8B57-2900E209A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306" y="2518791"/>
            <a:ext cx="475488" cy="579501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718519F-F678-4D25-AB35-61D5BAD1C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447" y="2741676"/>
            <a:ext cx="505206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5FD4B91-BEB7-4F30-B381-F01121A3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601" y="3098292"/>
            <a:ext cx="-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FFD16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B0A76637-60D3-478A-989C-2DEDB65C4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499" y="3098292"/>
            <a:ext cx="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FFD166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0DF86EA-95AC-498E-845C-480B5C1BD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27647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組長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09B384-A1CB-483A-BED0-FB750077C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267652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召喚流｜麻將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BAB6333-1C23-4045-AF42-12FF4EE37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311467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</a:defRPr>
            </a:pPr>
            <a:r>
              <a:rPr sz="975" b="1">
                <a:solidFill>
                  <a:srgbClr val="071018"/>
                </a:solidFill>
              </a:rPr>
              <a:t>擴充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854B6AF5-F4DD-4C43-A8C5-DA3BE72EA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52875"/>
            <a:ext cx="3105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B785FF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A069CB5-DE87-4FAE-A44F-C640753D1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351" y="4162425"/>
            <a:ext cx="326898" cy="3268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B78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A84462D-DA9A-4002-94EA-853FEC86E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0056" y="4519041"/>
            <a:ext cx="475488" cy="579501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B78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4C8294B3-EC82-434B-885B-5A4D8DA58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197" y="4741926"/>
            <a:ext cx="505206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4B24D234-301E-4489-AFA8-397B2281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4351" y="5098542"/>
            <a:ext cx="-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B785FF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8576D638-CFDD-4F3E-9B08-5A4406935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1249" y="5098542"/>
            <a:ext cx="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B785FF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82446E0-97C6-495E-982B-5098E60F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主任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17FE2D7C-99EE-4931-BD3B-8188E6A5A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46767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控場範圍｜777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6456BC32-4615-465D-AD42-1E5178C1A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5114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B785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</a:defRPr>
            </a:pPr>
            <a:r>
              <a:rPr sz="975" b="1">
                <a:solidFill>
                  <a:srgbClr val="071018"/>
                </a:solidFill>
              </a:rPr>
              <a:t>擴充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4452F2D-7C0E-4F0F-9D55-16B28B78B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52875"/>
            <a:ext cx="3105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4B5C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C997B1AE-37BA-4FA0-9407-2F700031A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476" y="4162425"/>
            <a:ext cx="326898" cy="3268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1C709C9C-90D7-45FC-B449-F2D9630ECE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7181" y="4519041"/>
            <a:ext cx="475488" cy="579501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650E7E7-112E-405D-8EF4-8DD935AA0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2322" y="4741926"/>
            <a:ext cx="505206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71F6EB7-E348-48E6-BD3A-DDA72F267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476" y="5098542"/>
            <a:ext cx="-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FF4B5C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7CE083C-AC92-465B-B7A8-54F45D427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8374" y="5098542"/>
            <a:ext cx="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FF4B5C"/>
            </a:solidFill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5838F65C-64C1-4ECA-BF9B-311E7C8C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經理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68A3880-ADE9-4C1C-9A99-83D78D055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767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資源 Slot｜彈珠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C47ECAA6-7D92-4D74-A368-6E5046FFF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5114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</a:defRPr>
            </a:pPr>
            <a:r>
              <a:rPr sz="975" b="1">
                <a:solidFill>
                  <a:srgbClr val="071018"/>
                </a:solidFill>
              </a:rPr>
              <a:t>擴充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9CB5EA63-51FC-4D5A-8C0B-73701839E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952875"/>
            <a:ext cx="3105150" cy="1581150"/>
          </a:xfrm>
          <a:prstGeom xmlns:a="http://schemas.openxmlformats.org/drawingml/2006/main" prst="roundRect">
            <a:avLst>
              <a:gd name="adj" fmla="val 72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FF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44A6212-AA86-430F-8EB4-916C266D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601" y="4162425"/>
            <a:ext cx="326898" cy="326898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C0BB1CB8-F4F8-4D8B-9833-183BC92A9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4306" y="4519041"/>
            <a:ext cx="475488" cy="579501"/>
          </a:xfrm>
          <a:prstGeom xmlns:a="http://schemas.openxmlformats.org/drawingml/2006/main" prst="roundRect">
            <a:avLst>
              <a:gd name="adj" fmla="val 218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1CF615F-D4C7-45D2-97ED-9F5E72CD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447" y="4741926"/>
            <a:ext cx="505206" cy="5943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90BDEA8C-B1D3-48A3-A0B3-45930BBC3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601" y="5098542"/>
            <a:ext cx="-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FFFFFF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65E84C1-8813-447E-BA9E-9E028EE08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5499" y="5098542"/>
            <a:ext cx="148590" cy="28232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59436">
            <a:solidFill>
              <a:srgbClr val="FFFFFF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C46E9685-B262-4A85-A792-E44330A5D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276725"/>
            <a:ext cx="152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5F7FA"/>
                </a:solidFill>
              </a:defRPr>
            </a:pPr>
            <a:r>
              <a:rPr sz="1950" b="1">
                <a:solidFill>
                  <a:srgbClr val="F5F7FA"/>
                </a:solidFill>
              </a:rPr>
              <a:t>董事長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9C318489-AEE9-416F-A74A-9E3A755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4676775"/>
            <a:ext cx="152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高風險｜魚機砲台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6419553B-7636-4AF1-B995-B22C65FCF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39275" y="5114925"/>
            <a:ext cx="100965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71018"/>
                </a:solidFill>
              </a:defRPr>
            </a:pPr>
            <a:r>
              <a:rPr sz="975" b="1">
                <a:solidFill>
                  <a:srgbClr val="071018"/>
                </a:solidFill>
              </a:rPr>
              <a:t>後期解鎖</a:t>
            </a:r>
          </a:p>
        </p:txBody>
      </p:sp>
    </p:spTree>
    <p:extLst>
      <p:ext uri="{BB962C8B-B14F-4D97-AF65-F5344CB8AC3E}">
        <p14:creationId xmlns:p14="http://schemas.microsoft.com/office/powerpoint/2010/main" val="12722737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929A862-259F-4160-82CE-471FEBFD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B7D508-14CD-4DBE-BFD7-C47ABF29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AAD263-FEC8-42EB-B99F-A3D6DE99B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122F76-1DF8-4711-B82F-B507BD6C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68E781-8F3A-4064-9FF3-C468DE63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CFD74D-B927-4C94-AAF1-AAC84C499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289071-5AD6-4C18-9C61-1F11FB2EB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4C2052-8A85-4EED-BA7D-BBCC99DF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801766-4213-4A19-B131-112524BE8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86EA34-8169-4D9B-81E1-FEEF2CD8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4406D9-2D3D-4F7E-A341-B098238AA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FDBDA74-C58A-48B4-A044-B9A3CE12D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BB95E6F-7DAE-4134-88D8-4754C0331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4E6DFE4-8679-4B5F-8C1B-DCDA07523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979BC3F-1BBE-448F-8DBA-338751529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C77BD61-F2DC-4ED8-8EF5-F9F866920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53561A5-FC4E-49DF-97A8-3D7593280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4C9C908-CF5B-4ABD-B855-807524291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B934D2D-3440-4CD7-865C-196205846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DD93DB2-02F3-410D-B481-88C9E8E6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8DF7BF2-55A7-4516-8974-B424EB4F6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8B8DD-84E3-4284-90B7-BC03C98D3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A0E356-7799-4AE4-9D77-CDF73BEAC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CF7BCD-0E62-4F7F-B3C3-F4CEAD38B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368A9D-586F-4CAD-95C7-0D68DBD22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3303183-8C99-489F-955F-FCCD89C22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A6A8EF-86A6-4B29-B799-FA2BD0115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33A357-1608-4579-B38E-99122005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EE435CF-A200-4BDD-96FA-009CDAA4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5650AD0-F142-4677-BC1A-7CB78283E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01F2A70-9639-4AB4-A7B8-785C947EF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CHARACTER ART BIBLE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85B05E7-0311-4CCC-89E6-3FF54431E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玩家角色美術設定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03FAF45-A4B4-48A4-AAF0-5E5DF8FEC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美術目標：小尺寸俯視角也能讀出職位、性格、武器與風險程度。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63DE5CE-E36C-47B1-BA9D-3AEE51704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EF02063-A51B-443F-A32B-BC2EDF7F3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353734A-3061-432B-AF72-6ED2B1B7F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12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9B5341-5000-4734-85FC-0E4146BE6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476250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2D753A5-2DA8-47D0-93A1-9DBA2093B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52625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962AA84-EE79-4FA5-B4F1-54BC1282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12407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共同規則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3E9744-A9EF-45BC-ABE9-1FB362799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6697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頭大身短、粗黑線、低飽和職場服裝＋高飽和武器特效。所有角色保留疲憊黑眼圈與薪水袋/員工證元素。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0EA9EA7-7E2F-4D1E-B523-FF77388F6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476250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D52BFC31-8558-4832-98B1-227E7BF04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952625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70A7704E-C191-426E-B28F-D5B2D3AF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12407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勞工男女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F9F4F7C-7FE3-41C9-8BE4-D8287BF70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6697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安全帽、反光背心、皺襯衫、帆布包。輪廓偏三角，代表底層求生；攻擊特效用骰子白與撲克紅黑。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7266227-3C2A-420F-8CFD-5C5FE7B57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476250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7D46ED8-A31F-4279-8E5B-D49E0951C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0F3820E-E7FB-40C4-8E77-4A091576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74332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組長 / 主任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D7D722F-B5A9-4F5A-853F-CA99450AD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408622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腰間對講機、資料夾、會議牌。組長帶一串摸魚同事召喚影；主任身邊漂浮 777 方塊和會議停止符。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7E05011-D67A-4FB7-982D-D34F961E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4762500" cy="1181100"/>
          </a:xfrm>
          <a:prstGeom xmlns:a="http://schemas.openxmlformats.org/drawingml/2006/main" prst="roundRect">
            <a:avLst>
              <a:gd name="adj" fmla="val 806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39BFEC3-3AE6-4B4B-B868-A286F92CC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71875"/>
            <a:ext cx="76200" cy="1181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DB1A2E9-8044-4F78-80AE-1920136F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743325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經理 / 董事長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F774083-7EE8-48A5-8BA4-656E1515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086225"/>
            <a:ext cx="4381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西裝更完整但誇張變形。經理手持預算章與彈珠袋；董事長背後是魚機砲台與掉落鈔票，受傷噴錢要視覺化。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D158532E-0DA6-49E8-B5FF-23692B8E4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581650"/>
            <a:ext cx="952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動畫關鍵：移動要像趕捷運；受傷像薪水被扣；放大招像尾牙抽到頭獎。</a:t>
            </a:r>
          </a:p>
        </p:txBody>
      </p:sp>
    </p:spTree>
    <p:extLst>
      <p:ext uri="{BB962C8B-B14F-4D97-AF65-F5344CB8AC3E}">
        <p14:creationId xmlns:p14="http://schemas.microsoft.com/office/powerpoint/2010/main" val="78488072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A61498-BEE6-45D1-9B46-57A2BEE24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7321582-420F-4157-ABA2-57C7A0718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2B31D6A-B1C9-4F35-8BE4-750F0650D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DC799-0DD4-433B-97C7-0ED2F6265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DDF2B-8811-462D-BFCB-B75E31A9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74AFAF-1497-4525-B7F4-3D44B1352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BCDBA7-CCDB-4BFA-8DD8-D95AA94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3DE324-18F0-47B7-907D-42546D730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BE066E-C5B3-4217-855F-50F0F5EB9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774CE1-0DD2-4194-B18A-7AA9832F9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2A7B2D-2353-47BE-A13A-6A5FA04AB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660955B-F66A-410C-B5BA-1DBFCEB68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79B3D3-B7F9-471A-9498-6776DD553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E6922B1-78F2-4866-B8EB-5C7B6667D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D1B53B-6F33-459A-BF42-6552DBBFF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E660E3A-131A-477D-8346-0AA76DED5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90080F-854D-4B1D-A1C2-0229A6EE3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8EF593E-A43C-4D57-89AE-23DDC2AFC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8035EEB-A62D-4D39-AD2A-9BFE14A64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596336-2980-4FC2-BBE7-AC8D2AD2D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C35CBD3-0396-4DB5-B373-2A256BD44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B6752FB-E825-437D-8E58-9BD1E4C2B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C382582-D7FB-47B3-8D0C-72D3F9BB4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6453F6B-20AB-476E-9954-1DA13B580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FC07D6-DF2B-48C5-9B1D-9FBFBD8F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90861D0-9D9F-431B-BBC2-B42517E6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9DAA84-C0EB-4D5E-B1FD-F28F343E3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A2A0231-7AEA-4AA7-AF94-21343FBE9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28398CF-A354-4629-B84E-36A370D7F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8B9E8B-3B78-4318-B623-C10358DB8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A18A136-2EDA-4913-AE06-8FACF8F2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WEAPON ART SETTINGS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B3D76CB-1ED0-40D6-A0DC-42CDB646A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武器與神話進化設定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A55BEA2-1221-452C-AFD1-2D8143C01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武器都是賭場、桌遊或遊樂場物件，進化後要從小道具變成全場表演。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D85AF61-6333-4BAD-8EC5-743C99241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4CF6D29-652A-4AE8-8FB5-DC418CC43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253B632-206E-40E7-94E2-70B25918A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13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E6E16B7-93FC-48F8-ABA9-DC9098B58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57375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CB050B0-EE33-4EFA-AFE9-38AF4BDEC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10502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42F59B"/>
                </a:solidFill>
              </a:defRPr>
            </a:pPr>
            <a:r>
              <a:rPr sz="3750" b="1">
                <a:solidFill>
                  <a:srgbClr val="42F59B"/>
                </a:solidFill>
              </a:rPr>
              <a:t>□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C06789A-C354-416C-BBF8-06880CC8C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143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骰子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BD705BE-E7C3-49DE-A959-41020337C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524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命運骰子：雙六全畫面爆炸，雙一召喚厄運惡魔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61756FC-FA11-472B-B8BB-B82FDAE35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857375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4B5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29C09C7-7E76-40CE-ACF1-A52DA4A40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10502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4B5C"/>
                </a:solidFill>
              </a:defRPr>
            </a:pPr>
            <a:r>
              <a:rPr sz="3750" b="1">
                <a:solidFill>
                  <a:srgbClr val="FF4B5C"/>
                </a:solidFill>
              </a:rPr>
              <a:t>A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942A94-AD22-499B-A819-3548C5EDD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143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撲克牌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DB37407-8A6B-422E-A143-5D952FB3D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2524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皇家同花順：10JQKA 依序打出，大範圍切割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AF38407-0B98-418C-8847-483F44EBF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57375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CF92DD-E588-42EE-B855-1A5F407F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0502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D166"/>
                </a:solidFill>
              </a:defRPr>
            </a:pPr>
            <a:r>
              <a:rPr sz="3750" b="1">
                <a:solidFill>
                  <a:srgbClr val="FFD166"/>
                </a:solidFill>
              </a:rPr>
              <a:t>東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5A65155-29DB-4C71-8555-211CB76F4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14312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麻將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68EC965-82C8-4286-9B30-BB85088AD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52412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大四喜：東南西北召喚四面風暴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04C4564-DC30-4907-B93A-E960189D6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3DD6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0095784-6558-4C3C-AD60-BFD924BD6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10527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3DD6FF"/>
                </a:solidFill>
              </a:defRPr>
            </a:pPr>
            <a:r>
              <a:rPr sz="3750" b="1">
                <a:solidFill>
                  <a:srgbClr val="3DD6FF"/>
                </a:solidFill>
              </a:rPr>
              <a:t>7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FDFAFF-1AA7-443A-A429-3D74713D7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143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777 方塊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58094BE-286F-469A-8D8A-76F043457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524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超級777：巨大 777 三連全場爆炸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03E31D9-0B63-4C18-A2A9-E1DD50D12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57625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B785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BF3DDFAC-AEAE-40E2-8462-E6E177962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0527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B785FF"/>
                </a:solidFill>
              </a:defRPr>
            </a:pPr>
            <a:r>
              <a:rPr sz="3750" b="1">
                <a:solidFill>
                  <a:srgbClr val="B785FF"/>
                </a:solidFill>
              </a:rPr>
              <a:t>●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92658BCC-3B3B-4F1F-BCA9-61BF789A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143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彈珠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2B07CBE-8F2A-4C70-8845-6810DD1E3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4524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無限多球：MULTIBALL 滿畫面反彈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6AC545D-380F-4CEF-B5FB-8A06DE3A5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3143250" cy="16002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58BD4A2-FA80-43C5-902B-FC7B89228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4105275"/>
            <a:ext cx="7048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750" b="1">
                <a:solidFill>
                  <a:srgbClr val="FFD166"/>
                </a:solidFill>
              </a:defRPr>
            </a:pPr>
            <a:r>
              <a:rPr sz="3750" b="1">
                <a:solidFill>
                  <a:srgbClr val="FFD166"/>
                </a:solidFill>
              </a:rPr>
              <a:t>◎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C0EA98C-D401-405F-B64C-26AE6E15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143375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725" b="1">
                <a:solidFill>
                  <a:srgbClr val="F5F7FA"/>
                </a:solidFill>
              </a:defRPr>
            </a:pPr>
            <a:r>
              <a:rPr sz="1725" b="1">
                <a:solidFill>
                  <a:srgbClr val="F5F7FA"/>
                </a:solidFill>
              </a:rPr>
              <a:t>魚機砲台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611984C-0EB1-4411-BB06-D196DCCC4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4524375"/>
            <a:ext cx="1714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A8B3BD"/>
                </a:solidFill>
              </a:defRPr>
            </a:pPr>
            <a:r>
              <a:rPr sz="1125">
                <a:solidFill>
                  <a:srgbClr val="A8B3BD"/>
                </a:solidFill>
              </a:rPr>
              <a:t>捕鯨級魚機：鎖定最高血量敵人雷射</a:t>
            </a:r>
          </a:p>
        </p:txBody>
      </p:sp>
    </p:spTree>
    <p:extLst>
      <p:ext uri="{BB962C8B-B14F-4D97-AF65-F5344CB8AC3E}">
        <p14:creationId xmlns:p14="http://schemas.microsoft.com/office/powerpoint/2010/main" val="1781083933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D202CC-2979-44AB-9AF1-38D5E02DC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C63DC2-8BE5-4973-A106-90D52FB6F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761BF4E-4AA5-4408-A585-C40067420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2CDE30D-5007-4970-8B52-A3563ED6A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1E3A53-6109-4B57-80FA-4090EA1C4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2A54C8-7AB8-426B-B1D4-D1F492F70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FF707-92FE-4DD5-AD44-4F6E32C32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43DDBC1-7411-43D9-BC0E-7BEA420ED1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A69917-C25F-4F93-87A1-866837BBF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33D4C0-F58E-498E-9A30-3B8F96052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A5F53D-FD4D-40FA-AE60-7DA886A1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F8C56E-4F5E-482B-A10E-C944C03AE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F5D9E0-523A-4D08-B7D5-2109950C5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CB0C15-B3EF-4B76-A879-967C74B2B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E74E77-D088-48FA-8084-740073504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840899-D9FB-4235-955C-3A30F0CA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1DA023-99FC-4000-BCE4-51733861B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EA8D4-892B-4F55-90AB-AEDA6AAE6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29B2C3-1223-4875-832E-BB2F3D9B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71285C-0C3E-44FF-9DAA-22E8B4B72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9C0CE9-4E8C-4F82-BB66-ACE528048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F1E4E54-7670-44E8-822C-DFD70C0B9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A57A1E2-1295-4E37-A9E0-E3B7F613B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22E16D5-483C-480B-B2CE-2E468EF8F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2DD935-B104-4BB9-A1A4-696F13001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B1EBC3-D1BB-4449-93F4-2E30BABC0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CC6D92A-96C2-408F-AF8D-8C307B2FD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AFF100D-0862-43DD-B067-EF3634414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3B8C74-4F84-45E6-A328-3E28D5951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54F4B29-1277-4CAF-9DF8-B2CCA5D93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2105FF-36E8-4AE3-9487-292504B46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NPC MONSTER ART SETTINGS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D375ED7-2034-4923-A435-911CD9A7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NPC 怪物美術設定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21DA659-5359-487E-BA3A-B19A0B040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敵人應該像金融世界與辦公設備被 AI 重新組裝後的失控垃圾。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0A34C61-F234-4B6A-8231-EFEB1D8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EF9B63-F0AB-49D4-BA52-79E08D8A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DE8E4B3-F73F-4B1D-8464-6C29558DF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14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03C539-9CC8-4AE3-A5A1-BDDC33306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95262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4B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4C5A3EE-47C4-4824-89A5-4D3ED70A3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93" y="2223516"/>
            <a:ext cx="397764" cy="39776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239ED5E-D75C-4A95-8CBF-AC007564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" y="2356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EC301E6-B23F-4FBC-AEE9-0EE01B80F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" y="2356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D3F6CE-BF34-45BD-920F-36163BC45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2124075"/>
            <a:ext cx="0" cy="99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098">
            <a:solidFill>
              <a:srgbClr val="07101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3B0B19B-7081-4B24-80B6-B3C29CF6A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28" y="2079879"/>
            <a:ext cx="66294" cy="66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4155CC-25F8-4746-9619-497B34275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" y="2654427"/>
            <a:ext cx="486156" cy="265176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9983D07-2689-4C62-8100-853B9CF4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1907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近戰機器人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60974E-2A4E-4806-AD6C-0C87B76B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2543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外送箱、掃地機、打卡鐘腳架。快速靠近，頭頂紅色績效燈。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6E2E12C-5DA3-4DCE-ACEE-F7472330D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5262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3DD6FF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896CEF1-C109-4981-985E-1015FA94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443" y="2223516"/>
            <a:ext cx="397764" cy="39776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A65FEA3-F4DE-4F19-86C2-BF01BDE3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2356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D4B0ADB5-438E-46FE-A8AB-B3F4EC534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70" y="2356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C8D8567-8D39-4E03-8127-4A12EC3DA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2124075"/>
            <a:ext cx="0" cy="99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098">
            <a:solidFill>
              <a:srgbClr val="071018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4B8D0FD-1E9B-427C-A86B-BD7FCD7D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178" y="2079879"/>
            <a:ext cx="66294" cy="66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734D4DD-4887-4231-83B5-446AACC09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247" y="2654427"/>
            <a:ext cx="486156" cy="265176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6056D95-FF8F-4330-B256-DFC1D2EC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1907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遠程無人機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AC48901-7E3E-40BC-92D5-0FD70FB80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43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詐騙簡訊、股票訊號、廣告看板。攻擊前投影警示字。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ADDA010C-5A32-4DC5-89BD-A78B9D5AFD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95262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C885B99-39EF-41A3-AC8F-0AEDB2016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093" y="2223516"/>
            <a:ext cx="397764" cy="39776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D1F1CF9-D809-44D0-835A-1E5E58773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485" y="2356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A214980-1D59-4B52-AC3B-BDE4795AB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2356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BE218EE0-D8C7-4847-8A05-4BDA6103B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2124075"/>
            <a:ext cx="0" cy="99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098">
            <a:solidFill>
              <a:srgbClr val="071018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09F5029-E9F2-488A-B42A-9B1658EA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828" y="2079879"/>
            <a:ext cx="66294" cy="66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CEE5E7A-00F3-42CB-936C-6DEF84636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897" y="2654427"/>
            <a:ext cx="486156" cy="265176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61D4065-7967-48D5-8DE4-768AAD03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907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機車型戰鬥機器人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F9DA5EA-F7B3-427B-A4CD-FC60D9D34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43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台灣街頭機車＋外送架＋AI 眼。高速橫切畫面。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56522EBF-6809-4406-88F7-6AC24C1EE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85762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4B5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8D68270-39FA-400D-BC92-20FCE06B6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793" y="4128516"/>
            <a:ext cx="397764" cy="39776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C1815FF-A140-44D4-B350-19E4F60AC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9185" y="4261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108E849-38A9-4C85-AE94-6A2DE4663D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4920" y="4261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FDEDBB86-3E93-4E66-A42A-011AB31B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9675" y="4029075"/>
            <a:ext cx="0" cy="99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098">
            <a:solidFill>
              <a:srgbClr val="071018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D3E48F9-B046-4B8C-ADF4-E975591A0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6528" y="3984879"/>
            <a:ext cx="66294" cy="66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EC33B15-466E-4525-8E47-9B6B5E1CB6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97" y="4559427"/>
            <a:ext cx="486156" cy="265176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C02349A-5B8D-4C70-8E69-DC58B8F7C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0957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自爆機器人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859D49F4-4B3C-4EAA-A98E-B5A0714C3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4448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貸款合約、倒數鬧鐘、紅綠 K 線炸彈。爆炸前瘋狂閃爍。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6981656E-99B1-404D-AE3E-A0FC93FD2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85762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2315B0E-9665-40F3-8033-2D52221F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7443" y="4128516"/>
            <a:ext cx="397764" cy="39776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83937A5F-206B-414D-8AC8-58725C5E6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5835" y="4261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50CA98E-2876-4413-8ACC-0FB84DCD9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41570" y="4261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A6790DE4-0DF0-4852-9CBE-88A51B170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6325" y="4029075"/>
            <a:ext cx="0" cy="99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098">
            <a:solidFill>
              <a:srgbClr val="07101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099AA434-E1D4-4484-91A6-AD5E9A14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3178" y="3984879"/>
            <a:ext cx="66294" cy="66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BDDF41BA-62B4-47CE-8147-35834935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3247" y="4559427"/>
            <a:ext cx="486156" cy="265176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C069CB93-A4AF-4998-92FE-A7B086254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0957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菁英晶片搬運機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2FA142C-4550-428C-8302-AEADD345D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48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叉車、顯卡、晶片箱。死亡後噴出廢棄晶片。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125DAAFC-9A3C-4C14-A514-387DF8A81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857625"/>
            <a:ext cx="3143250" cy="142875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B785FF"/>
            </a:solidFill>
            <a:prstDash val="solid"/>
          </a:ln>
        </p:spPr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EC85FC2D-CE8E-43AB-BAAE-9777B372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4093" y="4128516"/>
            <a:ext cx="397764" cy="397764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B78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806EFDEA-3A09-4368-A77B-6FD9D3BD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2485" y="4261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F12A14B1-6484-4664-822D-9727B33CD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8220" y="4261104"/>
            <a:ext cx="55245" cy="5524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F4B76F04-EEC7-49F6-95ED-229C5EFB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975" y="4029075"/>
            <a:ext cx="0" cy="9944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2098">
            <a:solidFill>
              <a:srgbClr val="071018"/>
            </a:solidFill>
            <a:prstDash val="solid"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699DE75-848A-4670-B4A8-A5F9A83AF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9828" y="3984879"/>
            <a:ext cx="66294" cy="662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6EB571D-B7A6-4C0F-9BA5-92CF5BCF4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19897" y="4559427"/>
            <a:ext cx="486156" cy="265176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B78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F49BF55-ACC2-4000-8AC2-C4EC972D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095750"/>
            <a:ext cx="1762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場景小怪規則</a:t>
            </a:r>
          </a:p>
        </p:txBody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05C939A-1FF1-45CF-BCC5-424ED044A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448175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每張地圖至少有一種交通型、一種金融型、一種辦公型敵人。</a:t>
            </a:r>
          </a:p>
        </p:txBody>
      </p:sp>
    </p:spTree>
    <p:extLst>
      <p:ext uri="{BB962C8B-B14F-4D97-AF65-F5344CB8AC3E}">
        <p14:creationId xmlns:p14="http://schemas.microsoft.com/office/powerpoint/2010/main" val="107480295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D69626C-E18E-486F-A5BC-D8A738BE0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E09E6B1-FAC2-4685-932D-65101CED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E6BB754-8FA6-4338-9DB3-4E90861F7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643E8FD-646E-40E6-BFE1-D797BA808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C93C018-25E7-404D-BE78-C69A3F8A4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17DFB7-5586-4E27-B96B-D162272C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F60758-C04C-4D8B-AB91-0AC2B6F1A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EA5557-2DC1-4CE0-81E9-5693DFD8D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818D3B7-591D-4DE4-A422-5CE732950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2B73E2-8526-4115-B139-7F652EB95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FD6511-4DCD-4263-BD04-9B4B33156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E432D-FC69-4912-88A2-E1FEB553BD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84C4CD6-5AE5-4642-BB6F-B83F062E9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60A9DE-9B43-4CFF-A1BB-A097F8D66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EFC459A-7DDE-4B06-B216-8756D4FE7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B8AD4F1-1A14-4F48-B7F7-82AC9E512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6ABE4E-19B9-43D9-92A1-E7B5AC54E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891D02-D949-47B3-AF8B-F0B573545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D21673-A120-407D-9674-2DB85BA91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27D7C6-F50A-4A0F-8818-755D88B8C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382F8E-195F-4860-A2F4-CDABFC89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15E88D5-A5E1-4B3C-BEB2-F2D94FCE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4F721-6D66-49A2-A5F9-F2EF20CD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3C38FCD-2077-4BF4-82BA-DD039800B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806D0E-EA18-4DDF-B14D-799395B7B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9133114-528E-478F-AFC5-D3DF1E1B6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5F97045-597B-4E7F-9F51-4AD8C6FE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ABEA35-1852-4A47-B325-6E9997CC5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1E5C415-CA6C-47AD-8C96-B9E02BBE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20A8FF1-3195-4778-9A13-301DD3F1A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A0092DF-07CF-410B-980A-A3ACB04A4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BOSS ART SETTINGS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A8356C-A7A8-4C25-9CA9-4B401C8B9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BOSS 設定：可聯想，但不直接使用真名與肖像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66A5A38-DF18-492F-A2C8-95F59D534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正式商業版本應避免真實肖像、商標與名譽風險，用稱號、混合特徵與誇張科幻化處理。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1B8ACE7-DBD7-454F-89E6-CD9191FAA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F41B889-1FCE-4EE2-9689-A58F8DD61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5702777-C4C1-4FD1-8461-012021623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15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4186634-45D0-41C8-86EA-137988CFB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4762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E08F17E-268C-464E-BEBB-A87F03914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000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2A3F159-AA6F-4971-94A0-236FA1F5D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1717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皮衣算力王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6CED2BF-113D-42F8-A629-30A640A4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5146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晶片王座、顯卡披風、算力光束。台灣 MVP 首關 Boss。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B27F07A-2420-4048-A68A-5D5E6E221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4762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7200982-BB95-4FAB-ACA1-F42128FB6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4332F45-B841-4BCB-95D8-842034CA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1717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火星科技皇帝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F1A82838-9DD2-436F-9A22-51FB7A2BC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5146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自動駕駛車、衛星、火箭殘骸，攻擊節奏大而戲劇化。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75A7FDA-E156-4A7C-8B7D-A476A00C2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4762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A66AC25-4635-4261-8EA3-980C37ACC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385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D6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B999EE4-58AB-422E-9EE7-29F7E958C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8100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量化基金公爵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484C9928-00E4-4221-83C4-0CDF7631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529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金融幽靈、匯率齒輪、利率法杖，視野霧與數字雨。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546EDA8-9344-49F0-941F-40E1A4A79B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4762500" cy="1143000"/>
          </a:xfrm>
          <a:prstGeom xmlns:a="http://schemas.openxmlformats.org/drawingml/2006/main" prst="roundRect">
            <a:avLst>
              <a:gd name="adj" fmla="val 8333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8EC5C95-8388-4998-A31D-A156C537F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6385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785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3EBD608-D976-4D66-9A1F-308C0BEB9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10000"/>
            <a:ext cx="44005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市場本身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ED243DD0-F9CD-4E47-9A62-F99EB694B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152900"/>
            <a:ext cx="4381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貪婪、恐懼、追高、殺低融合成巨大 AI 怪物。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A35BA54-1F2D-4263-9941-6AB582348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5572125"/>
            <a:ext cx="9486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FFD166"/>
                </a:solidFill>
              </a:defRPr>
            </a:pPr>
            <a:r>
              <a:rPr sz="1575" b="1">
                <a:solidFill>
                  <a:srgbClr val="FFD166"/>
                </a:solidFill>
              </a:rPr>
              <a:t>造型原則：輪廓大、攻擊預告清楚、掉落物華麗；諷刺感來自道具與行為，不靠直接複製真人外貌。</a:t>
            </a:r>
          </a:p>
        </p:txBody>
      </p:sp>
    </p:spTree>
    <p:extLst>
      <p:ext uri="{BB962C8B-B14F-4D97-AF65-F5344CB8AC3E}">
        <p14:creationId xmlns:p14="http://schemas.microsoft.com/office/powerpoint/2010/main" val="22916743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4CAA738-097E-4CC7-95C8-5E747F2F5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1A72B8-CAD3-4CA3-8C1F-57DCDC830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229CCD-BF0A-43EE-BFA6-59B6E29D2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12599-B806-438C-AF81-C2F0C26D0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59506F-674C-4A4A-8707-DF46B93AB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BF27E19-44D7-435E-89FB-7DCDAC9F1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28287D-86DA-4052-8481-01D78B28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D89D149-69F0-4417-83D6-419D9DD4C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A62ACF-56AB-4A15-B203-0CC296473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18D54F-6172-4C39-9B1E-8ABACCC24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A425B26-8008-4AFC-9B6E-A8D77118E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450EB4-71C1-42C4-BD7B-C4CA45ECE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91F10C-476F-47C4-BEE5-0D7563804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C427FA8-5AD6-4237-8E99-9FE8DC9B7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0BBA19-E326-448F-8935-7C2C7B530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C8010F-EFF6-4FE5-8E93-2AA208F12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8593F18-67EE-4CD6-BE43-3041BA3D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F22B25A-6322-4709-885F-907DF1611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8D3A8F-20F7-407F-A010-7D0996022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D0F755-92D5-47F9-977F-B601FAF78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9F5EEFC-1868-497B-B4AF-FD3CA08EE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E8BA6E-61CC-4657-B538-080A69C6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31FEB88-9D1B-42BC-A9EE-D7D33C627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BC8BDF4-1892-46BF-8919-41D50732E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1D9ECA6-AD3B-493A-A14F-CD77945F6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70B329C-1563-4D9B-86E3-3931A7DE0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D7EA75-49BE-487D-90CB-B1581E36F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CD6338-E5E4-4D38-B537-2C4BD334C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BEEE354-597E-4B0D-982C-20CB3E15D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678CE3-92AD-4E1B-B3D4-F69CB49F7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D74C5C7-F776-47F4-A242-12FF31980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MAP ART SETTINGS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D0A5D36-C2F1-475B-9520-C10B31453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十張地圖的視覺錨點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B47390C-3815-49D0-9D48-B4F1B3C4C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每張地圖都用一個現實地標、一個金融災難元素、一個 AI 失控機關建立記憶點。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CCEA38-E352-4A6A-B7F7-86CCF72E8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2929D8E-9252-4292-99CA-3939E96F30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6D76E83-4545-46C7-8DE3-554A5689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A13F1F5-4A57-450A-A6F2-B4172CEC2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954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3FAEF91-0049-40DD-8FBC-B67FC417C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2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</a:defRPr>
            </a:pPr>
            <a:r>
              <a:rPr sz="1350" b="1">
                <a:solidFill>
                  <a:srgbClr val="FFD166"/>
                </a:solidFill>
              </a:rPr>
              <a:t>01  台灣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8D0BAF-5DBA-4E16-89C7-CCCD3DCE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1828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爆倉夜市｜跑馬燈、捷運、跌停板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445F597-C3AF-49DC-8BC7-06A7D022B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954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A353E07-6E96-4848-8C0E-1DEF8A55B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288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</a:defRPr>
            </a:pPr>
            <a:r>
              <a:rPr sz="1350" b="1">
                <a:solidFill>
                  <a:srgbClr val="FFD166"/>
                </a:solidFill>
              </a:rPr>
              <a:t>02  日本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7C8C6ED-21A4-4D17-B099-72AE0E2F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288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東京泡沫街｜霓虹、柏青哥、人流機器人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73E9882-627C-4FA0-AD5B-CA8EE8DA9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717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DE9631E6-0322-43A4-BC57-FFA0A470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705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</a:defRPr>
            </a:pPr>
            <a:r>
              <a:rPr sz="1350" b="1">
                <a:solidFill>
                  <a:srgbClr val="FFD166"/>
                </a:solidFill>
              </a:rPr>
              <a:t>03  韓國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AFBF576-AE22-4F40-90C8-7DE68B5E1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05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首爾財閥城｜電競廣場、巨型看板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DC408E9-F9A6-495D-A4D1-345856654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5717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AA12F68-A6DB-4736-8C73-6C8F8C830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7051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</a:defRPr>
            </a:pPr>
            <a:r>
              <a:rPr sz="1350" b="1">
                <a:solidFill>
                  <a:srgbClr val="FFD166"/>
                </a:solidFill>
              </a:rPr>
              <a:t>04  美國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69B9306-BCE3-47AE-A74D-B639F42C0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051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矽谷廢土｜火箭墜落、電動車工廠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6C9946B-0893-472E-B18E-EA052CECA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4480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AC51647-0AB8-4FD7-BFDB-1929433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581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</a:defRPr>
            </a:pPr>
            <a:r>
              <a:rPr sz="1350" b="1">
                <a:solidFill>
                  <a:srgbClr val="FFD166"/>
                </a:solidFill>
              </a:rPr>
              <a:t>05  英國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5130689-7851-41BD-8028-63A195E86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3581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倫敦金融霧都｜銀行區、金融迷霧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3A6D2A07-EC1D-4B50-810C-FCF12CA25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4480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A6C04E-1D85-40F4-BBB9-2C89F7F9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5814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</a:defRPr>
            </a:pPr>
            <a:r>
              <a:rPr sz="1350" b="1">
                <a:solidFill>
                  <a:srgbClr val="FFD166"/>
                </a:solidFill>
              </a:rPr>
              <a:t>06  法國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4CA05A1-5753-42D1-B0FF-FCCE896C1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35814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巴黎罷工戰線｜咖啡館、移動障礙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8FF1856-6FC2-4CCF-8E3D-98F3BD62F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243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B41056E-32A4-4D10-9C50-4D1701B6C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57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</a:defRPr>
            </a:pPr>
            <a:r>
              <a:rPr sz="1350" b="1">
                <a:solidFill>
                  <a:srgbClr val="FFD166"/>
                </a:solidFill>
              </a:rPr>
              <a:t>07  德國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D2F819D0-9329-406A-82CF-1FA1D1ED0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4457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工業零號區｜傳送帶、機械手臂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0644BE28-E7E5-46B0-BBBF-8616D609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243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8902235C-C1AE-4F8C-936E-E093D7D35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577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</a:defRPr>
            </a:pPr>
            <a:r>
              <a:rPr sz="1350" b="1">
                <a:solidFill>
                  <a:srgbClr val="FFD166"/>
                </a:solidFill>
              </a:rPr>
              <a:t>08  埃及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8BDCA27-2F9B-4093-B471-7D51F2277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44577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演算法金字塔｜沙塵暴、資料中心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4CE7C6D-0B50-421C-BDDD-89BBFB2B2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2006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A387560-424C-448C-B5AA-5CC84CF80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334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D166"/>
                </a:solidFill>
              </a:defRPr>
            </a:pPr>
            <a:r>
              <a:rPr sz="1350" b="1">
                <a:solidFill>
                  <a:srgbClr val="FFD166"/>
                </a:solidFill>
              </a:rPr>
              <a:t>09  中國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8CDFD594-6FA0-4562-B27C-852E3C042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5334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電商不夜城｜物流倉、折扣倒數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D54CA490-EED1-4B6C-A72B-1141B2FA6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5200650"/>
            <a:ext cx="4953000" cy="590550"/>
          </a:xfrm>
          <a:prstGeom xmlns:a="http://schemas.openxmlformats.org/drawingml/2006/main" prst="roundRect">
            <a:avLst>
              <a:gd name="adj" fmla="val 16129"/>
            </a:avLst>
          </a:prstGeom>
          <a:solidFill xmlns:a="http://schemas.openxmlformats.org/drawingml/2006/main">
            <a:srgbClr val="FF4B5C"/>
          </a:solidFill>
          <a:ln xmlns:a="http://schemas.openxmlformats.org/drawingml/2006/main" w="9525">
            <a:solidFill>
              <a:srgbClr val="FF4B5C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B752B47-2DEE-4F49-A78F-6E32190A7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334000"/>
            <a:ext cx="1333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10  AI總部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82E56C8-4371-4C88-96A2-4C6EDE541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533400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FFFFFF"/>
                </a:solidFill>
              </a:defRPr>
            </a:pPr>
            <a:r>
              <a:rPr sz="1200">
                <a:solidFill>
                  <a:srgbClr val="FFFFFF"/>
                </a:solidFill>
              </a:rPr>
              <a:t>納斯達克天塔｜金融中心＋資料中心＋太空站</a:t>
            </a:r>
          </a:p>
        </p:txBody>
      </p:sp>
    </p:spTree>
    <p:extLst>
      <p:ext uri="{BB962C8B-B14F-4D97-AF65-F5344CB8AC3E}">
        <p14:creationId xmlns:p14="http://schemas.microsoft.com/office/powerpoint/2010/main" val="803026389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BBA3EC-9D36-4065-BF94-F7D42A3FA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561610-36A4-4F58-A8DF-6D3A9A5F7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AAEB0B-FE3E-4AEA-A596-A7A4CD94A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9243589-6F51-4F88-8013-9E36BE43E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F4B8D6-9BE4-41D8-8291-7B4FF320D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7126B10-AC39-4D3D-A31B-05A576F95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BAA6F2-6D8C-4E44-85D0-D7FF98F07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F203658-4775-4AD2-9DF0-F1B6952ED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74A323-1EA0-4951-A319-B415A329B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6B8F105-CE74-4BE9-B6A1-A79928FB5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AB91D2D-204C-4F71-A1BB-CA516B4F0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A43676-4B98-492B-B45D-8A5B5504F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5F877A-3701-4DAB-9CDE-910E45A20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879227-BA6A-48FB-8CE9-2C64867C9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E07024-876D-4F54-BB00-18B7ED712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8127A95-5924-40EF-867D-30777F75B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6A8054-A196-4531-819C-C334E69DA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4258F1-DEF4-4D23-9BD3-DF823D570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C25671-FBCE-4B58-BB2B-3A92CFF9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8CCFC6-C093-4403-8D7F-EC7828AFF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9CABE64-9AB9-4D7E-A790-15159BF3E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473832-CFAD-4788-A78D-ECC80B1A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42A933D-2976-425F-8B43-4A2ED7529D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282843-CA05-473A-8D2B-F06C9DC0E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979B8AC-793F-4ABE-B33B-4ECA576E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12AEB9E-80DA-4069-891D-9CCD02C81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FAA8DD0-0680-4FC6-A677-759C951C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A4BA22-4469-436E-8F57-92C191767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2AA1CE-C033-4023-AD5F-AA37357E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F5C8F07-5680-4AE4-A34B-3CC7A6854A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4468D1E-6E93-4F73-8175-A00FCA1B4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TAIWAN MVP STAGE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E684BC-AFB2-487A-8B58-04928497C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台灣第一關：爆倉夜市場景包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940E97A-E104-4558-8484-0919E549E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MVP 場景應該一眼看出台灣、金融崩壞、AI 暴走三件事。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C7E9270-4B8E-4FA2-8018-66C13B423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EBD2241-6AF9-49FC-B2D3-E64DE211F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2DF957-2314-4466-98A2-50BDF4E9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17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8898743-91F7-4BC5-A8EF-D4651A8C1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4953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1C9ED15-F3F8-4B63-BDB9-5703C07F0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14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A"/>
                </a:solidFill>
              </a:defRPr>
            </a:pPr>
            <a:r>
              <a:rPr sz="2100" b="1">
                <a:solidFill>
                  <a:srgbClr val="F5F7FA"/>
                </a:solidFill>
              </a:rPr>
              <a:t>場景組件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6A8ADB3-3045-471C-A386-A864A4FA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670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• 夜市攤位與霓虹招牌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F86C7B9-50B5-41CE-BE98-297109279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028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• 捷運出口與便利商店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D121B66-B0D5-447A-BC09-71AD21FE4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390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• 科技園區玻璃帷幕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6990FEA-2350-49E5-BF76-118179222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7528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• 崩壞股票跑馬燈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44E65E7-FBB4-41C0-91BA-988EFF0C2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1148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• 跌停板砸地機關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779B38-A265-4D26-BEFD-BA9B75EF3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476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• 地上鈔票、硬幣、股票碎片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021E4B3-9BBA-4FB0-A472-2284CA88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809750"/>
            <a:ext cx="4953000" cy="3429000"/>
          </a:xfrm>
          <a:prstGeom xmlns:a="http://schemas.openxmlformats.org/drawingml/2006/main" prst="roundRect">
            <a:avLst>
              <a:gd name="adj" fmla="val 3889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E98084A-CCB5-4860-8A68-3C4DF02FA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1145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5F7FA"/>
                </a:solidFill>
              </a:defRPr>
            </a:pPr>
            <a:r>
              <a:rPr sz="2100" b="1">
                <a:solidFill>
                  <a:srgbClr val="F5F7FA"/>
                </a:solidFill>
              </a:rPr>
              <a:t>視覺構圖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D12C4CC-E727-4040-B361-6F7C287D0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52850"/>
            <a:ext cx="0" cy="7429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F6B9E81-5F21-48DB-900C-B69073917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3725" y="3905250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06A7655-41DE-4D6E-A5AA-50404B665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3794" y="3703320"/>
            <a:ext cx="0" cy="1584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AB9E985-9FBB-4157-A0BC-5C7941A65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8069" y="3855720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237A95B-BA72-4B94-96CD-BFA2D486E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8138" y="3604260"/>
            <a:ext cx="0" cy="16840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EFD30CB-EB5E-4100-B806-84BD679EF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2413" y="3756660"/>
            <a:ext cx="17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BE7A8F-E8F9-4E40-B32F-074D61ECD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2481" y="3544824"/>
            <a:ext cx="0" cy="267462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E54F3B8-7523-4329-BCB6-F13CF9E4E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6756" y="3697224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4AF984B-208D-41D7-8CE9-12BDC40BB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6825" y="3406140"/>
            <a:ext cx="0" cy="27736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DD7BC4BD-160D-450B-85BF-8F775032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558540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C048E23-55B2-464C-8E9D-EB2D1ED7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1169" y="3257550"/>
            <a:ext cx="0" cy="525018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DA597B0-7A96-4519-B468-B3837BD8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5444" y="3409950"/>
            <a:ext cx="1714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4063ABBC-9CAE-4587-99E0-833FE2BB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5513" y="3118866"/>
            <a:ext cx="0" cy="53492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42F59B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57D602E-4F85-4288-803F-F7C4C2014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9788" y="3271266"/>
            <a:ext cx="1714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0B1CD2CC-67A8-4211-B5C8-FB00AEC65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79856" y="2861310"/>
            <a:ext cx="0" cy="104013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4B5C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56B6EF5-9BDA-47F2-BC2E-797BBB3EE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4131" y="3013710"/>
            <a:ext cx="1714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3B2A83C-5B0B-479B-975F-8B305D526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581400"/>
            <a:ext cx="960120" cy="1165860"/>
          </a:xfrm>
          <a:prstGeom xmlns:a="http://schemas.openxmlformats.org/drawingml/2006/main" prst="roundRect">
            <a:avLst>
              <a:gd name="adj" fmla="val 8571"/>
            </a:avLst>
          </a:prstGeom>
          <a:solidFill xmlns:a="http://schemas.openxmlformats.org/drawingml/2006/main">
            <a:srgbClr val="15253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7E1FE08-F38A-4BAB-AA39-66413283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3773424"/>
            <a:ext cx="617220" cy="30175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44" b="1">
                <a:solidFill>
                  <a:srgbClr val="FFD166"/>
                </a:solidFill>
              </a:defRPr>
            </a:pPr>
            <a:r>
              <a:rPr sz="1944" b="1">
                <a:solidFill>
                  <a:srgbClr val="FFD166"/>
                </a:solidFill>
              </a:rPr>
              <a:t>777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58C4B9D3-F3CF-4452-937E-53A49BCE4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7410" y="4171188"/>
            <a:ext cx="685800" cy="246888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7101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7BA14393-2709-4B94-9831-362534C06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91700" y="4219194"/>
            <a:ext cx="617220" cy="1371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756" b="1">
                <a:solidFill>
                  <a:srgbClr val="42F59B"/>
                </a:solidFill>
              </a:defRPr>
            </a:pPr>
            <a:r>
              <a:rPr sz="756" b="1">
                <a:solidFill>
                  <a:srgbClr val="42F59B"/>
                </a:solidFill>
              </a:rPr>
              <a:t>ALL IN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7D5FED1-1CC7-47F5-92B7-3048EC0CB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4333875"/>
            <a:ext cx="409575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主色：夜市深藍＋招牌紅綠</a:t>
            </a:r>
          </a:p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對比：金錢掉落用高亮金</a:t>
            </a:r>
          </a:p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危險：跌停板、BOSS 技能用警示紅</a:t>
            </a:r>
          </a:p>
          <a:p xmlns:a="http://schemas.openxmlformats.org/drawingml/2006/main">
            <a:pPr>
              <a:defRPr sz="1275">
                <a:solidFill>
                  <a:srgbClr val="A8B3BD"/>
                </a:solidFill>
              </a:defRPr>
            </a:pPr>
            <a:r>
              <a:rPr sz="1275">
                <a:solidFill>
                  <a:srgbClr val="A8B3BD"/>
                </a:solidFill>
              </a:rPr>
              <a:t>可讀性：地面保持暗色，掉落物與敵人外框高亮</a:t>
            </a:r>
          </a:p>
        </p:txBody>
      </p:sp>
    </p:spTree>
    <p:extLst>
      <p:ext uri="{BB962C8B-B14F-4D97-AF65-F5344CB8AC3E}">
        <p14:creationId xmlns:p14="http://schemas.microsoft.com/office/powerpoint/2010/main" val="156055831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1C429-634E-4F46-B7D0-36A83A5A9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3C01B0-1B1A-4704-8D9D-117158B6E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0F55F5D-BF31-4480-913D-C576062BA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EF0A4-EBFE-4C5B-8782-06C1EE85A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C9178A-F309-462A-9FA1-7AC2654DB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FE4EED-F8AE-4CA8-AE16-D085F6303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823A98-9A0D-4448-BA3A-B5A9DBA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16E980-BDAF-40F6-988C-67B7A3E90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AC277-2B70-4F19-8B48-75796136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FA0841-5F27-4E07-866F-1154D72B5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69DD71-38E4-4C27-B313-667ECEDE4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30BFA-950A-4945-8311-4BE605639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6E9D7D-5838-44DE-8FD9-D30FDAF0F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A23416-A7BF-494B-87D0-FCA9FD49A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F25FAD6-7DD4-4C5D-B7AE-4201AABAF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942CDD-2462-4415-BB26-E5E3DDBC3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7EB76A-C5D9-4C17-8331-C35DD674D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5367B0-EE01-4D58-A285-62ED66A1D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55A4D08-08DC-4167-9931-5835DC52D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E0FAE8-4B55-43E7-BD92-FAC700C40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F05E2C-C2FC-46A0-8B82-F64E8168F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69849CF-C981-454E-9FE2-22DCB877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6404F77-4EF8-44A7-BC9D-3A036BD55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4628F2-8E60-4693-991C-2E0E87DC9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E4A9E0B-9ECD-4701-A39D-6222371A1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591F453-5250-48A4-8262-CE4AF8F86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791282F-04C1-487A-944B-31420A6D1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93E368F-1836-482C-92C5-55C1B50F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03092D2-253C-4A47-B867-ED13465B6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C7B791B-3433-4C6D-9B40-FF08FF53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01EE1D0-9611-4C06-9A7D-350A97CD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UI / RESOURCE LANGUAGE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001949-D654-4D19-BCFD-6CC828AD7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UI 與資源命名視覺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4E1653-9226-436A-924A-5F10EFE97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資源名稱要服務世界觀，也要讓玩家瞬間理解功能。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71161B3-921D-46E0-861A-D2EA3CD31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F045E9B-7BFE-44D0-A64A-FCAFA3E6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6A7B923-654E-4FA0-A89E-0DA75D88F4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18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6FAF71-804B-4B5E-876C-7C429C35F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52625"/>
            <a:ext cx="3105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4B5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9C034C7-0F12-4161-9FAC-445F05E3F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621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4B5C"/>
                </a:solidFill>
              </a:defRPr>
            </a:pPr>
            <a:r>
              <a:rPr sz="2550" b="1">
                <a:solidFill>
                  <a:srgbClr val="FF4B5C"/>
                </a:solidFill>
              </a:rPr>
              <a:t>HP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2741709-BF90-4343-950C-67451322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181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體力值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745AE27-329F-46D6-9EDF-F6D4C5D72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524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勞工疲勞表，紅色警示條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EF3DF0E-8B6C-4EEC-9850-0C14CB818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952625"/>
            <a:ext cx="3105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42F59B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D8012D4-E805-439E-8215-BDDFAD0F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21621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42F59B"/>
                </a:solidFill>
              </a:defRPr>
            </a:pPr>
            <a:r>
              <a:rPr sz="2550" b="1">
                <a:solidFill>
                  <a:srgbClr val="42F59B"/>
                </a:solidFill>
              </a:rPr>
              <a:t>EXP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478ACE-2349-411B-A147-E3D6A8F61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181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工作資歷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E19C3E6-1B94-4EC0-84A9-5C9386A4A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24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藍綠履歷進度條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7B8334CE-E0FD-4CA7-83C5-EFBF94864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52625"/>
            <a:ext cx="3105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D166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0559AF6-539F-4A8A-BF13-B0165D0D2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1621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FFD166"/>
                </a:solidFill>
              </a:defRPr>
            </a:pPr>
            <a:r>
              <a:rPr sz="2550" b="1">
                <a:solidFill>
                  <a:srgbClr val="FFD166"/>
                </a:solidFill>
              </a:rPr>
              <a:t>$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2A2CE82-452C-44ED-89AF-06ED887D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1812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可動用資金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F46DF46E-51A2-49D4-BCCC-09389A672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5241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現金、鈔票、金條、股票殘券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E553AA2-707B-404F-B5C8-4646A71B0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667125"/>
            <a:ext cx="3105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3DD6FF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D556BEF0-1B7F-47CC-8386-F3FAB4D52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766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3DD6FF"/>
                </a:solidFill>
              </a:defRPr>
            </a:pPr>
            <a:r>
              <a:rPr sz="1875" b="1">
                <a:solidFill>
                  <a:srgbClr val="3DD6FF"/>
                </a:solidFill>
              </a:rPr>
              <a:t>CHIP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3EB1BC3-4D9F-4831-A11C-C0680D4D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8957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廢棄晶片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04F5FF-DD7C-484F-813E-DC1BA2C5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2386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死亡後保留，俗稱韭菜幣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879782-2EDC-4E34-A1BA-4A0DC9877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667125"/>
            <a:ext cx="3105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B785FF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FDD7564-DA0F-44D2-B0E3-D8F7273FC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8766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B785FF"/>
                </a:solidFill>
              </a:defRPr>
            </a:pPr>
            <a:r>
              <a:rPr sz="1875" b="1">
                <a:solidFill>
                  <a:srgbClr val="B785FF"/>
                </a:solidFill>
              </a:rPr>
              <a:t>LUCK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DC8448C-527D-469D-AFB7-FCF380E70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38957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韭菜指數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FD41015-67A0-41B9-AEEC-5CC7B8CD8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42386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可見保底，越慘越接近大獎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4D6BA9A-653E-47DC-8B23-6DBB29D8C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67125"/>
            <a:ext cx="3105150" cy="12192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19050">
            <a:solidFill>
              <a:srgbClr val="FF4B5C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2CAC0C-C16F-4A95-B94F-D2DC2CBDA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876675"/>
            <a:ext cx="876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FF4B5C"/>
                </a:solidFill>
              </a:defRPr>
            </a:pPr>
            <a:r>
              <a:rPr sz="1875" b="1">
                <a:solidFill>
                  <a:srgbClr val="FF4B5C"/>
                </a:solidFill>
              </a:rPr>
              <a:t>TIME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2AD9601-66A1-4312-8BAD-3BABC8A4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3895725"/>
            <a:ext cx="152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收盤倒數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7388F09-061D-4BA0-B44A-1C245C2FB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4238625"/>
            <a:ext cx="1666875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A8B3BD"/>
                </a:solidFill>
              </a:defRPr>
            </a:pPr>
            <a:r>
              <a:rPr sz="1050">
                <a:solidFill>
                  <a:srgbClr val="A8B3BD"/>
                </a:solidFill>
              </a:rPr>
              <a:t>市場壓力與 Boss 進場提示</a:t>
            </a:r>
          </a:p>
        </p:txBody>
      </p:sp>
    </p:spTree>
    <p:extLst>
      <p:ext uri="{BB962C8B-B14F-4D97-AF65-F5344CB8AC3E}">
        <p14:creationId xmlns:p14="http://schemas.microsoft.com/office/powerpoint/2010/main" val="1333862522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0710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80F5166-95D2-4C92-9D66-ED92F3FBA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530628-6E8E-4843-90D6-8FA0154C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085B61-227E-40D4-87E5-74835FCBE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45B1C1-8382-47ED-BE93-F62A4BB27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B1D955-2FDD-4397-A0ED-FFD6082E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88B9BF-AAF6-4D5B-80E6-3B1F22B5F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F1B9BF-23E5-45D4-A621-7C96FC1B0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F334D1-A75A-4C00-8A07-0D885BE38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63ACD99-8972-49B9-AEAB-9E61E1EF6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0EEA2B-82B9-442A-AEA8-115960F25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A2884B1-EA5A-4D27-9954-78F29CB9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3D94A0-B0D1-4832-B9BE-0592F9076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5CEE77-1E3C-4218-B701-004B0D102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C1A062-35EE-4EA9-B24F-9ABD4B9CD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3E82F2-C207-4C0B-AF5F-A99A0E85F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F4A02B-7163-48CF-BB35-FD895392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E92F34-3D0E-45B2-93CE-CDCE29F1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0" y="0"/>
            <a:ext cx="0" cy="68580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CB5E623-A1D5-41B7-9A97-5F5D05746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AFF962-1216-4F60-956D-C1C0DBBE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DE9694A-D900-42E8-9F20-966A475F0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143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0E66BE-B0FF-40E3-B7C5-BB2BCD5FB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714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00CBBE1-19D3-484E-AD14-2D94C9D31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286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C9BB4E1-9AF5-4829-B9F4-3C60C8C0D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857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8BF68C-FC7D-409C-8BC3-225ADD87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29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1F140F-1D65-405B-8E1F-212AC51BA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000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17BCD7-B0EE-464C-9B41-8F92B8986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572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4394E74-4761-411A-AAD3-1AC91B37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143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EC1AAC-BA6D-4CFD-96A4-D1B9CA04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2EC5B65-2413-4D0F-ADA5-041A396D2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865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7B2123-7070-4274-A016-B94401D6E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858000"/>
            <a:ext cx="12192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F3340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DFFCF0C-FAC9-45DD-9F5B-FDDCFC5F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975" b="1">
                <a:solidFill>
                  <a:srgbClr val="42F59B"/>
                </a:solidFill>
              </a:defRPr>
            </a:pPr>
            <a:r>
              <a:rPr sz="975" b="1">
                <a:solidFill>
                  <a:srgbClr val="42F59B"/>
                </a:solidFill>
              </a:rPr>
              <a:t>PRODUCTION HANDOFF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656001D-A7E6-4D7D-A9E3-2CA4EADA3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700" b="1">
                <a:solidFill>
                  <a:srgbClr val="F5F7FA"/>
                </a:solidFill>
              </a:defRPr>
            </a:pPr>
            <a:r>
              <a:rPr sz="2700" b="1">
                <a:solidFill>
                  <a:srgbClr val="F5F7FA"/>
                </a:solidFill>
              </a:rPr>
              <a:t>後續製作建議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4CA3736-2F2F-4A81-ADEF-26748314A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A8B3BD"/>
                </a:solidFill>
              </a:defRPr>
            </a:pPr>
            <a:r>
              <a:rPr sz="1350">
                <a:solidFill>
                  <a:srgbClr val="A8B3BD"/>
                </a:solidFill>
              </a:rPr>
              <a:t>把企劃往原型推進時，先鎖住爽感與辨識度，再擴內容量。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34AFEB2-F550-4A0C-B14A-7A803EE2D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9810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746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7C2B6F5-B661-4A0C-9A36-878A8780E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53200"/>
            <a:ext cx="4953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750">
                <a:solidFill>
                  <a:srgbClr val="A8B3BD"/>
                </a:solidFill>
              </a:defRPr>
            </a:pPr>
            <a:r>
              <a:rPr sz="750">
                <a:solidFill>
                  <a:srgbClr val="A8B3BD"/>
                </a:solidFill>
              </a:rPr>
              <a:t>爆倉倖存者：AI末日777｜遊戲企劃與美術設定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E5217C9-64FD-45A5-B921-33CF382C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515100"/>
            <a:ext cx="533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D166"/>
                </a:solidFill>
              </a:defRPr>
            </a:pPr>
            <a:r>
              <a:rPr sz="900" b="1">
                <a:solidFill>
                  <a:srgbClr val="FFD166"/>
                </a:solidFill>
              </a:rPr>
              <a:t>19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C07327-2823-4D86-BB08-7B274C96C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314325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C663E1D-57C0-4C80-A435-CCE399FA7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955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F59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D8EC75-03E6-47A6-83C7-A2A1E79BD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2669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美術先做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467A8F4-E66A-463C-8646-35E120338C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609850"/>
            <a:ext cx="2762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2 名角色四方向走路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5 種敵人剪影與攻擊預告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台灣地圖 tileset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3 種 Slot 機台 UI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骰子、撲克、魚機砲台特效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004C09E-9EEE-4BFA-80EA-87C534E18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314325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D48388-3544-4780-8DEF-960F3085B3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955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D16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C0E4CBB-A7B1-428C-ABBB-9058FF97A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2669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原型先驗證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8C5C768-7CF9-4AFB-ACB2-9A4A0D750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609850"/>
            <a:ext cx="2762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12 分鐘出怪節奏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50/150/400 三級下注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保底與幸運值可視化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大獎是否改變流派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撿錢是否足夠爽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311CE0-AC25-4AE4-BC2A-E8F65452C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3143250" cy="295275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101A22"/>
          </a:solidFill>
          <a:ln xmlns:a="http://schemas.openxmlformats.org/drawingml/2006/main" w="9525">
            <a:solidFill>
              <a:srgbClr val="263746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3DD1943-420D-4241-A3EB-7C823D4FD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095500"/>
            <a:ext cx="76200" cy="2952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4B5C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F8C4143-B3B6-45DC-9BE8-268F868D6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266950"/>
            <a:ext cx="27813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1">
                <a:solidFill>
                  <a:srgbClr val="F5F7FA"/>
                </a:solidFill>
              </a:defRPr>
            </a:pPr>
            <a:r>
              <a:rPr sz="1575" b="1">
                <a:solidFill>
                  <a:srgbClr val="F5F7FA"/>
                </a:solidFill>
              </a:rPr>
              <a:t>暫緩擴充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BDBA045C-9276-4B98-95A7-EC457578A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609850"/>
            <a:ext cx="2762250" cy="2286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十國地圖完整量產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六角色全動畫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全部神話武器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永久技能長線平衡</a:t>
            </a:r>
          </a:p>
          <a:p xmlns:a="http://schemas.openxmlformats.org/drawingml/2006/main">
            <a:pPr>
              <a:lnSpc>
                <a:spcPct val="115000"/>
              </a:lnSpc>
              <a:buNone/>
              <a:defRPr sz="1200">
                <a:solidFill>
                  <a:srgbClr val="A8B3BD"/>
                </a:solidFill>
              </a:defRPr>
            </a:pPr>
            <a:r>
              <a:rPr sz="1200">
                <a:solidFill>
                  <a:srgbClr val="A8B3BD"/>
                </a:solidFill>
              </a:rPr>
              <a:t>商業版真實人物影射細節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D33B086-AB42-4A8D-B2AC-F901CC033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524500"/>
            <a:ext cx="9601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D166"/>
                </a:solidFill>
              </a:defRPr>
            </a:pPr>
            <a:r>
              <a:rPr sz="1650" b="1">
                <a:solidFill>
                  <a:srgbClr val="FFD166"/>
                </a:solidFill>
              </a:rPr>
              <a:t>下一步：把台灣 MVP 拆成數值表、敵人血量、升級池、Slot 獎池與 12 分鐘出怪曲線。</a:t>
            </a:r>
          </a:p>
        </p:txBody>
      </p:sp>
    </p:spTree>
    <p:extLst>
      <p:ext uri="{BB962C8B-B14F-4D97-AF65-F5344CB8AC3E}">
        <p14:creationId xmlns:p14="http://schemas.microsoft.com/office/powerpoint/2010/main" val="11289988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2026-06-16T04:36:18.5060000Z</dcterms:created>
  <dcterms:modified xsi:type="dcterms:W3CDTF">2026-06-16T04:36:18.5060000Z</dcterms:modified>
</coreProperties>
</file>